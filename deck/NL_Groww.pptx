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Share of posts</c:v>
                </c:pt>
              </c:strCache>
            </c:strRef>
          </c:tx>
          <c:spPr>
            <a:solidFill>
              <a:srgbClr val="56B4E9"/>
            </a:solidFill>
            <a:effectLst/>
          </c:spPr>
          <c:invertIfNegative val="0"/>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56B4E9"/>
              </a:solidFill>
              <a:effectLst/>
            </c:spPr>
          </c:dPt>
          <c:dPt>
            <c:idx val="1"/>
            <c:invertIfNegative val="0"/>
            <c:bubble3D val="0"/>
            <c:spPr>
              <a:solidFill>
                <a:srgbClr val="FFB000"/>
              </a:solidFill>
              <a:effectLst/>
            </c:spPr>
          </c:dPt>
          <c:dPt>
            <c:idx val="2"/>
            <c:invertIfNegative val="0"/>
            <c:bubble3D val="0"/>
            <c:spPr>
              <a:solidFill>
                <a:srgbClr val="FFB000"/>
              </a:solidFill>
              <a:effectLst/>
            </c:spPr>
          </c:dPt>
          <c:dPt>
            <c:idx val="3"/>
            <c:invertIfNegative val="0"/>
            <c:bubble3D val="0"/>
            <c:spPr>
              <a:solidFill>
                <a:srgbClr val="3DDBB0"/>
              </a:solidFill>
              <a:effectLst/>
            </c:spPr>
          </c:dPt>
          <c:dPt>
            <c:idx val="4"/>
            <c:invertIfNegative val="0"/>
            <c:bubble3D val="0"/>
            <c:spPr>
              <a:solidFill>
                <a:srgbClr val="3DDBB0"/>
              </a:solidFill>
              <a:effectLst/>
            </c:spPr>
          </c:dPt>
          <c:cat>
            <c:multiLvlStrRef>
              <c:f>Sheet1!$A$2:$A$6</c:f>
              <c:multiLvlStrCache>
                <c:ptCount val="5"/>
                <c:lvl>
                  <c:pt idx="0">
                    <c:v>&lt;22</c:v>
                  </c:pt>
                  <c:pt idx="1">
                    <c:v>22-25</c:v>
                  </c:pt>
                  <c:pt idx="2">
                    <c:v>26-30</c:v>
                  </c:pt>
                  <c:pt idx="3">
                    <c:v>31-35</c:v>
                  </c:pt>
                  <c:pt idx="4">
                    <c:v>36+</c:v>
                  </c:pt>
                </c:lvl>
              </c:multiLvlStrCache>
            </c:multiLvlStrRef>
          </c:cat>
          <c:val>
            <c:numRef>
              <c:f>Sheet1!$B$2:$B$6</c:f>
              <c:numCache>
                <c:formatCode>General</c:formatCode>
                <c:ptCount val="5"/>
                <c:pt idx="0">
                  <c:v>21</c:v>
                </c:pt>
                <c:pt idx="1">
                  <c:v>35</c:v>
                </c:pt>
                <c:pt idx="2">
                  <c:v>25</c:v>
                </c:pt>
                <c:pt idx="3">
                  <c:v>7</c:v>
                </c:pt>
                <c:pt idx="4">
                  <c:v>12</c:v>
                </c:pt>
              </c:numCache>
            </c:numRef>
          </c:val>
        </c:ser>
        <c:dLbls>
          <c:numFmt formatCode="0&quot;%&quot;"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FFFFFF"/>
                </a:solidFill>
                <a:latin typeface="Calibri"/>
              </a:defRPr>
            </a:pPr>
            <a:endParaRPr lang="en-US"/>
          </a:p>
        </c:txPr>
        <c:crossAx val="2094734552"/>
        <c:crosses val="autoZero"/>
        <c:auto val="1"/>
        <c:lblAlgn val="ctr"/>
        <c:noMultiLvlLbl val="1"/>
      </c:catAx>
      <c:valAx>
        <c:axId val="2094734552"/>
        <c:scaling>
          <c:orientation val="minMax"/>
          <c:max val="4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FFFFF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People</c:v>
                </c:pt>
              </c:strCache>
            </c:strRef>
          </c:tx>
          <c:spPr>
            <a:solidFill>
              <a:srgbClr val="F08DC0"/>
            </a:solidFill>
            <a:effectLst/>
          </c:spPr>
          <c:invertIfNegative val="0"/>
          <c:dLbls>
            <c:numFmt formatCode="#,##0"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dPt>
            <c:idx val="0"/>
            <c:invertIfNegative val="0"/>
            <c:bubble3D val="0"/>
            <c:spPr>
              <a:solidFill>
                <a:srgbClr val="F08DC0"/>
              </a:solidFill>
              <a:effectLst/>
            </c:spPr>
          </c:dPt>
          <c:dPt>
            <c:idx val="1"/>
            <c:invertIfNegative val="0"/>
            <c:bubble3D val="0"/>
            <c:spPr>
              <a:solidFill>
                <a:srgbClr val="56B4E9"/>
              </a:solidFill>
              <a:effectLst/>
            </c:spPr>
          </c:dPt>
          <c:dPt>
            <c:idx val="2"/>
            <c:invertIfNegative val="0"/>
            <c:bubble3D val="0"/>
            <c:spPr>
              <a:solidFill>
                <a:srgbClr val="56B4E9"/>
              </a:solidFill>
              <a:effectLst/>
            </c:spPr>
          </c:dPt>
          <c:dPt>
            <c:idx val="3"/>
            <c:invertIfNegative val="0"/>
            <c:bubble3D val="0"/>
            <c:spPr>
              <a:solidFill>
                <a:srgbClr val="56B4E9"/>
              </a:solidFill>
              <a:effectLst/>
            </c:spPr>
          </c:dPt>
          <c:dPt>
            <c:idx val="4"/>
            <c:invertIfNegative val="0"/>
            <c:bubble3D val="0"/>
            <c:spPr>
              <a:solidFill>
                <a:srgbClr val="56B4E9"/>
              </a:solidFill>
              <a:effectLst/>
            </c:spPr>
          </c:dPt>
          <c:cat>
            <c:multiLvlStrRef>
              <c:f>Sheet1!$A$2:$A$6</c:f>
              <c:multiLvlStrCache>
                <c:ptCount val="5"/>
                <c:lvl>
                  <c:pt idx="0">
                    <c:v>Did nothing</c:v>
                  </c:pt>
                  <c:pt idx="1">
                    <c:v>Asked a friend</c:v>
                  </c:pt>
                  <c:pt idx="2">
                    <c:v>Followed influencers</c:v>
                  </c:pt>
                  <c:pt idx="3">
                    <c:v>Asked family</c:v>
                  </c:pt>
                  <c:pt idx="4">
                    <c:v>Searched Google</c:v>
                  </c:pt>
                </c:lvl>
              </c:multiLvlStrCache>
            </c:multiLvlStrRef>
          </c:cat>
          <c:val>
            <c:numRef>
              <c:f>Sheet1!$B$2:$B$6</c:f>
              <c:numCache>
                <c:formatCode>General</c:formatCode>
                <c:ptCount val="5"/>
                <c:pt idx="0">
                  <c:v>9</c:v>
                </c:pt>
                <c:pt idx="1">
                  <c:v>4</c:v>
                </c:pt>
                <c:pt idx="2">
                  <c:v>3</c:v>
                </c:pt>
                <c:pt idx="3">
                  <c:v>1</c:v>
                </c:pt>
                <c:pt idx="4">
                  <c:v>1</c:v>
                </c:pt>
              </c:numCache>
            </c:numRef>
          </c:val>
        </c:ser>
        <c:dLbls>
          <c:numFmt formatCode="#,##0" sourceLinked="0"/>
          <c:txPr>
            <a:bodyPr/>
            <a:lstStyle/>
            <a:p>
              <a:pPr>
                <a:defRPr b="0" i="0" strike="noStrike" sz="1400" u="none">
                  <a:solidFill>
                    <a:srgbClr val="FFFFFF"/>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FFFFFF"/>
                </a:solidFill>
                <a:latin typeface="Calibri"/>
              </a:defRPr>
            </a:pPr>
            <a:endParaRPr lang="en-US"/>
          </a:p>
        </c:txPr>
        <c:crossAx val="2094734552"/>
        <c:crosses val="autoZero"/>
        <c:auto val="1"/>
        <c:lblAlgn val="ctr"/>
        <c:noMultiLvlLbl val="1"/>
      </c:catAx>
      <c:valAx>
        <c:axId val="2094734552"/>
        <c:scaling>
          <c:orientation val="minMax"/>
          <c:max val="1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400" b="0" i="0" u="none" strike="noStrike">
                <a:solidFill>
                  <a:srgbClr val="FFFFF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North-star metric as given in the brief. Numbers: 11,711 conversations analysed by the discovery engine, 4,952 judged relevant to a person's own mutual fund SIP; survey n=18. Name of the fellow intentionally not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Funnel: 1.4B population; ~958M active internet users (IAMAI Internet in India 2025); 500M+ UPI consumers (NPCI-BCG 2025) used as the fintech-app proxy; 16.7M Groww active users and 60% mutual-fund attach (Groww Q4 FY26 shareholder letter); 36% of new users are SIP-first (Q2 FY26 letter). The final level is an estimate, not a reported figure: ~10M MF users x 20-30% assumed to have started their first SIP in the last 12 months. Validate with Groww internal data. SIP stoppage ratio is stoppages plus completions over new registrations, so it is not the share of investors who quit.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Segments combine age and occupation as stated in public posts. Shares: age (n=1,130 posts that state age): under 22 21%, 22-25 35%, 26-30 25%, 31-35 7%, 36+ 12%; income (n=964): fixed salary 73%, student/dependent 13%, irregular or variable 14%. First-year investors who state age (n=345): 22-25 44%, 26-30 19%, under 22 28%. Drop-off signal rates by segment from the discovery engine (6%, 12%, 11%, 6%). Groww age facts: about 45% of active users under 30 (IPO prospectus, June 2025); median first-time investor age 25-26 from secondary reports. Chosen segment: early-career salaried 22-30, highest drop-off signal rate, largest by age and income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Hypotheses are framed from the discovery engine (4,952 relevant conversations) and the 18-person survey. They are hypotheses until the planned interviews. Groww skip rule: one survey respondent said only one instalment can be skipped at a time and three consecutive skips cancel the SIP; this must be verified in the app before being cited as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numbers: first-year relevant conversations n=1,063; first-year confusion shares among 299 conversations that mention confusion; 22% from drop-off signals (n=696); 18% of 512 stated drop-off reasons are involuntary breaks; outside-app shares among 394 conversations that name a source; emotion comparison: drop-offs vs continuing investors (confused, anxious, frustrated or disappointed). Survey: Q7 thought of stopping yes 6 + maybe 3; Q9 did nothing 9, friend 4, influencers 3, family 1, Google 1; Q5 missed an instalment 3, all on Groww.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Canvas follows the five questions in the brief. The problem is deliberately not 'investors stop when markets fall': a market-fall headline is the trigger, the root cause is the missing bridge between what investors see and what they can understand or do. The 20,000 to 30,000 figure is 1% of the estimated 2 to 3 million first-time SIP investors a year and must be validated with Groww cohort data. Record monthly SIP flows Rs 32,490 crore and stoppage ratio 78.53% are for September 2026 (AMFI via media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MVP idea built on the same retrieval-augmented engine already deployed. Safe fallback: decline, express uncertainty, or point to AMFI, SEBI investor education and Groww support. The gate runs four checks on every answer (real citations, at most three sentences, numbers from computed counts, no advice language). Golden-set agreement on the extraction labels is measured separately once the hand-labelled set is returned. Release thresholds are proposals to be agreed with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metric as given: increase the percentage of first-time mutual fund investors with an active SIP 12 months after starting. Active SIP = at least one successful instalment in the last 30 days. Targets are proposals pending Groww baseline data. Current AI numbers come from the engine evaluation: 19/19 tricky questions handled, retrieval precision 43-78% across six runs, 11 of 12 answers grounded in the final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ranking by severity: (1) regulatory and advice risk, (2) hallucination, (3) harm from retention pressure. Evidence bias is the main research risk: public text under-represents silent drop-offs, which is why interviews and Groww cohort data are required before launch. In the engine evaluation, one 'continue vs drop off' answer was flagged by the judge in two runs for over-generalising; the saved version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explanation of the discovery engine, as required. Collected: Play Store 40,000; Reddit posts 38,517 and comments 15,862; YouTube comments 15,799. After filters and seeded sampling the corpus is 21,073; 11,711 items analysed by Gemini in two passes; 4,952 judged relevant to a person's own mutual fund SIP. First prompt over-counted relevant items (ULIP, PPF, insurance): 510 of 1,804 flipped under the stricter prompt. Golden-set agreement numbers to be added once the hand-labelled set is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40F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11274552" cy="960120"/>
          </a:xfrm>
          <a:prstGeom prst="rect">
            <a:avLst/>
          </a:prstGeom>
          <a:noFill/>
          <a:ln/>
        </p:spPr>
        <p:txBody>
          <a:bodyPr wrap="square" rtlCol="0"/>
          <a:lstStyle>
            <a:lvl1pPr indent="0" marL="0">
              <a:buNone/>
              <a:defRPr lang="en-US" sz="2700" b="1" dirty="0">
                <a:solidFill>
                  <a:srgbClr val="FFFFFF"/>
                </a:solidFill>
                <a:latin typeface="Arial" pitchFamily="34" charset="0"/>
                <a:ea typeface="Arial" pitchFamily="34" charset="-122"/>
                <a:cs typeface="Arial" pitchFamily="34" charset="-120"/>
              </a:defRPr>
            </a:lvl1pPr>
          </a:lstStyle>
          <a:p>
            <a:pPr indent="0" marL="0">
              <a:buNone/>
            </a:pPr>
            <a:endParaRPr lang="en-US" sz="2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140F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nextleapgradprojectgrowwsipresearch.vercel.app/" TargetMode="Externa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yourstory.com/2026/01/indias-internet-user-base-crosses-950-million-2025-iamai-report" TargetMode="External"/><Relationship Id="rId2" Type="http://schemas.openxmlformats.org/officeDocument/2006/relationships/hyperlink" Target="https://assets.thehansindia.com/business/upi-crosses-500-million-users-sets-global-benchmark-for-digital-payments-bcgnpci-report-1013164" TargetMode="External"/><Relationship Id="rId3" Type="http://schemas.openxmlformats.org/officeDocument/2006/relationships/hyperlink" Target="https://nsearchives.nseindia.com/corporate/BILLIONBRAINS_20042026132113_ShareholdrsLetterSigned.pdf" TargetMode="External"/><Relationship Id="rId4" Type="http://schemas.openxmlformats.org/officeDocument/2006/relationships/hyperlink" Target="https://resources.groww.in/web-assets/media-library/2025/11/Q2%20FY26%20Shareholders%27%20Letter.pdf" TargetMode="External"/><Relationship Id="rId5" Type="http://schemas.openxmlformats.org/officeDocument/2006/relationships/hyperlink" Target="https://www.angelone.in/news/mutual-funds/sip-stoppage-ratio-falls-for-5th-straight-month-to-78-53-in-september-2026" TargetMode="External"/><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nextleapgradprojectgrowwsipresearch.vercel.app/" TargetMode="Externa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nextleapgradprojectgrowwsipresearch.vercel.app/"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glow-3"/>
          <p:cNvSpPr/>
          <p:nvPr/>
        </p:nvSpPr>
        <p:spPr>
          <a:xfrm>
            <a:off x="8503920" y="182880"/>
            <a:ext cx="4206240" cy="4206240"/>
          </a:xfrm>
          <a:prstGeom prst="ellipse">
            <a:avLst/>
          </a:prstGeom>
          <a:solidFill>
            <a:srgbClr val="3DDBB0">
              <a:alpha val="20000"/>
            </a:srgbClr>
          </a:solidFill>
          <a:ln w="12700">
            <a:solidFill>
              <a:srgbClr val="3DDBB0">
                <a:alpha val="0"/>
              </a:srgbClr>
            </a:solidFill>
            <a:prstDash val="solid"/>
          </a:ln>
        </p:spPr>
      </p:sp>
      <p:sp>
        <p:nvSpPr>
          <p:cNvPr id="5" name="kicker"/>
          <p:cNvSpPr/>
          <p:nvPr/>
        </p:nvSpPr>
        <p:spPr>
          <a:xfrm>
            <a:off x="640080" y="548640"/>
            <a:ext cx="6309360" cy="457200"/>
          </a:xfrm>
          <a:prstGeom prst="roundRect">
            <a:avLst>
              <a:gd name="adj" fmla="val 50000"/>
            </a:avLst>
          </a:prstGeom>
          <a:solidFill>
            <a:srgbClr val="33288F"/>
          </a:solidFill>
          <a:ln w="19050">
            <a:solidFill>
              <a:srgbClr val="F0E442"/>
            </a:solidFill>
            <a:prstDash val="solid"/>
          </a:ln>
        </p:spPr>
      </p:sp>
      <p:sp>
        <p:nvSpPr>
          <p:cNvPr id="6" name="Text 4"/>
          <p:cNvSpPr txBox="1"/>
          <p:nvPr/>
        </p:nvSpPr>
        <p:spPr>
          <a:xfrm>
            <a:off x="640080" y="548640"/>
            <a:ext cx="6309360" cy="457200"/>
          </a:xfrm>
          <a:prstGeom prst="rect">
            <a:avLst/>
          </a:prstGeom>
          <a:noFill/>
          <a:ln/>
        </p:spPr>
        <p:txBody>
          <a:bodyPr wrap="square" lIns="0" tIns="0" rIns="0" bIns="0" rtlCol="0" anchor="ctr"/>
          <a:lstStyle/>
          <a:p>
            <a:pPr algn="ctr" indent="0" marL="0">
              <a:buNone/>
            </a:pPr>
            <a:r>
              <a:rPr lang="en-US" sz="1600" b="1" dirty="0">
                <a:solidFill>
                  <a:srgbClr val="F0E442"/>
                </a:solidFill>
                <a:latin typeface="Calibri" pitchFamily="34" charset="0"/>
                <a:ea typeface="Calibri" pitchFamily="34" charset="-122"/>
                <a:cs typeface="Calibri" pitchFamily="34" charset="-120"/>
              </a:rPr>
              <a:t>NextLeap graduation project  |  Growth PM case: Groww</a:t>
            </a:r>
            <a:endParaRPr lang="en-US" sz="1600" dirty="0"/>
          </a:p>
        </p:txBody>
      </p:sp>
      <p:sp>
        <p:nvSpPr>
          <p:cNvPr id="7" name="Text 5"/>
          <p:cNvSpPr txBox="1"/>
          <p:nvPr/>
        </p:nvSpPr>
        <p:spPr>
          <a:xfrm>
            <a:off x="640080" y="1417320"/>
            <a:ext cx="10607040" cy="182880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Helping first-time Groww investors stay invested through year one</a:t>
            </a:r>
            <a:endParaRPr lang="en-US" sz="4600" dirty="0"/>
          </a:p>
        </p:txBody>
      </p:sp>
      <p:sp>
        <p:nvSpPr>
          <p:cNvPr id="8" name="Text 6"/>
          <p:cNvSpPr txBox="1"/>
          <p:nvPr/>
        </p:nvSpPr>
        <p:spPr>
          <a:xfrm>
            <a:off x="640080" y="3337560"/>
            <a:ext cx="9875520" cy="914400"/>
          </a:xfrm>
          <a:prstGeom prst="rect">
            <a:avLst/>
          </a:prstGeom>
          <a:noFill/>
          <a:ln/>
        </p:spPr>
        <p:txBody>
          <a:bodyPr wrap="square" lIns="0" tIns="0" rIns="0" bIns="0" rtlCol="0" anchor="t"/>
          <a:lstStyle/>
          <a:p>
            <a:pPr indent="0" marL="0">
              <a:buNone/>
            </a:pPr>
            <a:r>
              <a:rPr lang="en-US" sz="2200" dirty="0">
                <a:solidFill>
                  <a:srgbClr val="DAD5FF"/>
                </a:solidFill>
                <a:latin typeface="Calibri" pitchFamily="34" charset="0"/>
                <a:ea typeface="Calibri" pitchFamily="34" charset="-122"/>
                <a:cs typeface="Calibri" pitchFamily="34" charset="-120"/>
              </a:rPr>
              <a:t>Why early-career salaried investors wobble in months 2 to 12, and an AI check-in that steadies them without giving advice</a:t>
            </a:r>
            <a:endParaRPr lang="en-US" sz="2200" dirty="0"/>
          </a:p>
        </p:txBody>
      </p:sp>
      <p:sp>
        <p:nvSpPr>
          <p:cNvPr id="9" name="north-star"/>
          <p:cNvSpPr/>
          <p:nvPr/>
        </p:nvSpPr>
        <p:spPr>
          <a:xfrm>
            <a:off x="640080" y="4434840"/>
            <a:ext cx="10881360" cy="914400"/>
          </a:xfrm>
          <a:prstGeom prst="roundRect">
            <a:avLst>
              <a:gd name="adj" fmla="val 18000"/>
            </a:avLst>
          </a:prstGeom>
          <a:solidFill>
            <a:srgbClr val="251D70"/>
          </a:solidFill>
          <a:ln w="25400">
            <a:solidFill>
              <a:srgbClr val="FFB000"/>
            </a:solidFill>
            <a:prstDash val="solid"/>
          </a:ln>
        </p:spPr>
      </p:sp>
      <p:sp>
        <p:nvSpPr>
          <p:cNvPr id="10" name="Text 8"/>
          <p:cNvSpPr txBox="1"/>
          <p:nvPr/>
        </p:nvSpPr>
        <p:spPr>
          <a:xfrm>
            <a:off x="868680" y="4480560"/>
            <a:ext cx="10424160" cy="822960"/>
          </a:xfrm>
          <a:prstGeom prst="rect">
            <a:avLst/>
          </a:prstGeom>
          <a:noFill/>
          <a:ln/>
        </p:spPr>
        <p:txBody>
          <a:bodyPr wrap="square" lIns="0" tIns="0" rIns="0" bIns="0" rtlCol="0" anchor="ctr"/>
          <a:lstStyle/>
          <a:p>
            <a:pPr indent="0" marL="0">
              <a:buNone/>
            </a:pPr>
            <a:r>
              <a:rPr lang="en-US" sz="1900" b="1" dirty="0">
                <a:solidFill>
                  <a:srgbClr val="FFB000"/>
                </a:solidFill>
                <a:latin typeface="Calibri" pitchFamily="34" charset="0"/>
                <a:ea typeface="Calibri" pitchFamily="34" charset="-122"/>
                <a:cs typeface="Calibri" pitchFamily="34" charset="-120"/>
              </a:rPr>
              <a:t>North-star metric: </a:t>
            </a:r>
            <a:pPr indent="0" marL="0">
              <a:buNone/>
            </a:pPr>
            <a:r>
              <a:rPr lang="en-US" sz="1900" dirty="0">
                <a:solidFill>
                  <a:srgbClr val="FFFFFF"/>
                </a:solidFill>
                <a:latin typeface="Calibri" pitchFamily="34" charset="0"/>
                <a:ea typeface="Calibri" pitchFamily="34" charset="-122"/>
                <a:cs typeface="Calibri" pitchFamily="34" charset="-120"/>
              </a:rPr>
              <a:t>percentage of first-time mutual fund investors who still have an active SIP 12 months after starting their first one.</a:t>
            </a:r>
            <a:endParaRPr lang="en-US" sz="1900" dirty="0"/>
          </a:p>
        </p:txBody>
      </p:sp>
      <p:sp>
        <p:nvSpPr>
          <p:cNvPr id="11" name="Text 9"/>
          <p:cNvSpPr txBox="1"/>
          <p:nvPr/>
        </p:nvSpPr>
        <p:spPr>
          <a:xfrm>
            <a:off x="640080" y="5577840"/>
            <a:ext cx="10972800" cy="365760"/>
          </a:xfrm>
          <a:prstGeom prst="rect">
            <a:avLst/>
          </a:prstGeom>
          <a:noFill/>
          <a:ln/>
        </p:spPr>
        <p:txBody>
          <a:bodyPr wrap="square" lIns="0" tIns="0" rIns="0" bIns="0" rtlCol="0" anchor="t"/>
          <a:lstStyle/>
          <a:p>
            <a:pPr indent="0" marL="0">
              <a:buNone/>
            </a:pPr>
            <a:r>
              <a:rPr lang="en-US" sz="1600" b="1" dirty="0">
                <a:solidFill>
                  <a:srgbClr val="56B4E9"/>
                </a:solidFill>
                <a:latin typeface="Calibri" pitchFamily="34" charset="0"/>
                <a:ea typeface="Calibri" pitchFamily="34" charset="-122"/>
                <a:cs typeface="Calibri" pitchFamily="34" charset="-120"/>
              </a:rPr>
              <a:t>11,711</a:t>
            </a:r>
            <a:pPr indent="0" marL="0">
              <a:buNone/>
            </a:pPr>
            <a:r>
              <a:rPr lang="en-US" sz="1600" dirty="0">
                <a:solidFill>
                  <a:srgbClr val="FFFFFF"/>
                </a:solidFill>
                <a:latin typeface="Calibri" pitchFamily="34" charset="0"/>
                <a:ea typeface="Calibri" pitchFamily="34" charset="-122"/>
                <a:cs typeface="Calibri" pitchFamily="34" charset="-120"/>
              </a:rPr>
              <a:t> conversations analysed   |   </a:t>
            </a:r>
            <a:pPr indent="0" marL="0">
              <a:buNone/>
            </a:pPr>
            <a:r>
              <a:rPr lang="en-US" sz="1600" b="1" dirty="0">
                <a:solidFill>
                  <a:srgbClr val="3DDBB0"/>
                </a:solidFill>
                <a:latin typeface="Calibri" pitchFamily="34" charset="0"/>
                <a:ea typeface="Calibri" pitchFamily="34" charset="-122"/>
                <a:cs typeface="Calibri" pitchFamily="34" charset="-120"/>
              </a:rPr>
              <a:t>4,952</a:t>
            </a:r>
            <a:pPr indent="0" marL="0">
              <a:buNone/>
            </a:pPr>
            <a:r>
              <a:rPr lang="en-US" sz="1600" dirty="0">
                <a:solidFill>
                  <a:srgbClr val="FFFFFF"/>
                </a:solidFill>
                <a:latin typeface="Calibri" pitchFamily="34" charset="0"/>
                <a:ea typeface="Calibri" pitchFamily="34" charset="-122"/>
                <a:cs typeface="Calibri" pitchFamily="34" charset="-120"/>
              </a:rPr>
              <a:t> about real SIP journeys   |   </a:t>
            </a:r>
            <a:pPr indent="0" marL="0">
              <a:buNone/>
            </a:pPr>
            <a:r>
              <a:rPr lang="en-US" sz="1600" b="1" dirty="0">
                <a:solidFill>
                  <a:srgbClr val="F08DC0"/>
                </a:solidFill>
                <a:latin typeface="Calibri" pitchFamily="34" charset="0"/>
                <a:ea typeface="Calibri" pitchFamily="34" charset="-122"/>
                <a:cs typeface="Calibri" pitchFamily="34" charset="-120"/>
              </a:rPr>
              <a:t>18</a:t>
            </a:r>
            <a:pPr indent="0" marL="0">
              <a:buNone/>
            </a:pPr>
            <a:r>
              <a:rPr lang="en-US" sz="1600" dirty="0">
                <a:solidFill>
                  <a:srgbClr val="FFFFFF"/>
                </a:solidFill>
                <a:latin typeface="Calibri" pitchFamily="34" charset="0"/>
                <a:ea typeface="Calibri" pitchFamily="34" charset="-122"/>
                <a:cs typeface="Calibri" pitchFamily="34" charset="-120"/>
              </a:rPr>
              <a:t>-person survey   |   </a:t>
            </a:r>
            <a:pPr indent="0" marL="0">
              <a:buNone/>
            </a:pPr>
            <a:r>
              <a:rPr lang="en-US" sz="1600" b="1" u="sng" dirty="0">
                <a:solidFill>
                  <a:srgbClr val="F0E442"/>
                </a:solidFill>
                <a:uFill>
                  <a:solidFill>
                    <a:srgbClr val="F0E442"/>
                  </a:solidFill>
                </a:uFill>
                <a:latin typeface="Calibri" pitchFamily="34" charset="0"/>
                <a:ea typeface="Calibri" pitchFamily="34" charset="-122"/>
                <a:cs typeface="Calibri" pitchFamily="34" charset="-120"/>
                <a:hlinkClick r:id="rId1" invalidUrl="" action="" tgtFrame="" tooltip="https://nextleapgradprojectgrowwsipresearch.vercel.app/" history="1" highlightClick="0" endSnd="0">
                  <a:extLst>
                    <a:ext uri="{A12FA001-AC4F-418D-AE19-62706E023703}">
                      <ahyp:hlinkClr xmlns:ahyp="http://schemas.microsoft.com/office/drawing/2018/hyperlinkcolor" val="tx"/>
                    </a:ext>
                  </a:extLst>
                </a:hlinkClick>
              </a:rPr>
              <a:t>Try the live AI discovery engine</a:t>
            </a:r>
            <a:endParaRPr lang="en-US" sz="1600" dirty="0"/>
          </a:p>
        </p:txBody>
      </p:sp>
      <p:sp>
        <p:nvSpPr>
          <p:cNvPr id="12" name="Text 10"/>
          <p:cNvSpPr txBox="1"/>
          <p:nvPr/>
        </p:nvSpPr>
        <p:spPr>
          <a:xfrm>
            <a:off x="640080" y="6126480"/>
            <a:ext cx="10972800" cy="36576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Independent study. Not affiliated with Groww. Not investment advice. Mutual fund investments are subject to market risks.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Impact mapping: 1.4 billion Indians narrow to about 2 to 3 million first-time Groww SIP investors a year</a:t>
            </a:r>
            <a:endParaRPr lang="en-US" sz="2700" dirty="0"/>
          </a:p>
        </p:txBody>
      </p:sp>
      <p:sp>
        <p:nvSpPr>
          <p:cNvPr id="5" name="funnel-1"/>
          <p:cNvSpPr/>
          <p:nvPr/>
        </p:nvSpPr>
        <p:spPr>
          <a:xfrm>
            <a:off x="457200" y="1417320"/>
            <a:ext cx="7589520" cy="841248"/>
          </a:xfrm>
          <a:prstGeom prst="roundRect">
            <a:avLst>
              <a:gd name="adj" fmla="val 17391"/>
            </a:avLst>
          </a:prstGeom>
          <a:solidFill>
            <a:srgbClr val="251D70"/>
          </a:solidFill>
          <a:ln w="25400">
            <a:solidFill>
              <a:srgbClr val="56B4E9"/>
            </a:solidFill>
            <a:prstDash val="solid"/>
          </a:ln>
        </p:spPr>
      </p:sp>
      <p:sp>
        <p:nvSpPr>
          <p:cNvPr id="6" name="Text 4"/>
          <p:cNvSpPr txBox="1"/>
          <p:nvPr/>
        </p:nvSpPr>
        <p:spPr>
          <a:xfrm>
            <a:off x="640080" y="1417320"/>
            <a:ext cx="7223760"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India's population</a:t>
            </a:r>
            <a:endParaRPr lang="en-US" sz="1600" dirty="0"/>
          </a:p>
          <a:p>
            <a:pPr algn="ctr" indent="0" marL="0">
              <a:buNone/>
            </a:pPr>
            <a:r>
              <a:rPr lang="en-US" sz="1900" b="1" dirty="0">
                <a:solidFill>
                  <a:srgbClr val="56B4E9"/>
                </a:solidFill>
                <a:latin typeface="Calibri" pitchFamily="34" charset="0"/>
                <a:ea typeface="Calibri" pitchFamily="34" charset="-122"/>
                <a:cs typeface="Calibri" pitchFamily="34" charset="-120"/>
              </a:rPr>
              <a:t>~1.4 billion</a:t>
            </a:r>
            <a:endParaRPr lang="en-US" sz="1600" dirty="0"/>
          </a:p>
        </p:txBody>
      </p:sp>
      <p:sp>
        <p:nvSpPr>
          <p:cNvPr id="7" name="funnel-2"/>
          <p:cNvSpPr/>
          <p:nvPr/>
        </p:nvSpPr>
        <p:spPr>
          <a:xfrm>
            <a:off x="914400" y="2377440"/>
            <a:ext cx="6675120" cy="841248"/>
          </a:xfrm>
          <a:prstGeom prst="roundRect">
            <a:avLst>
              <a:gd name="adj" fmla="val 17391"/>
            </a:avLst>
          </a:prstGeom>
          <a:solidFill>
            <a:srgbClr val="251D70"/>
          </a:solidFill>
          <a:ln w="25400">
            <a:solidFill>
              <a:srgbClr val="FFB000"/>
            </a:solidFill>
            <a:prstDash val="solid"/>
          </a:ln>
        </p:spPr>
      </p:sp>
      <p:sp>
        <p:nvSpPr>
          <p:cNvPr id="8" name="Text 6"/>
          <p:cNvSpPr txBox="1"/>
          <p:nvPr/>
        </p:nvSpPr>
        <p:spPr>
          <a:xfrm>
            <a:off x="1097280" y="2395728"/>
            <a:ext cx="630936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Mobile internet users</a:t>
            </a:r>
            <a:endParaRPr lang="en-US" sz="1600" dirty="0"/>
          </a:p>
          <a:p>
            <a:pPr algn="ctr" indent="0" marL="0">
              <a:buNone/>
            </a:pPr>
            <a:r>
              <a:rPr lang="en-US" sz="1900" b="1" dirty="0">
                <a:solidFill>
                  <a:srgbClr val="FFB000"/>
                </a:solidFill>
                <a:latin typeface="Calibri" pitchFamily="34" charset="0"/>
                <a:ea typeface="Calibri" pitchFamily="34" charset="-122"/>
                <a:cs typeface="Calibri" pitchFamily="34" charset="-120"/>
              </a:rPr>
              <a:t>~958 million</a:t>
            </a:r>
            <a:endParaRPr lang="en-US" sz="1600" dirty="0"/>
          </a:p>
        </p:txBody>
      </p:sp>
      <p:sp>
        <p:nvSpPr>
          <p:cNvPr id="9" name="Text 7"/>
          <p:cNvSpPr txBox="1"/>
          <p:nvPr/>
        </p:nvSpPr>
        <p:spPr>
          <a:xfrm>
            <a:off x="1097280" y="2852928"/>
            <a:ext cx="6309360" cy="329184"/>
          </a:xfrm>
          <a:prstGeom prst="rect">
            <a:avLst/>
          </a:prstGeom>
          <a:noFill/>
          <a:ln/>
        </p:spPr>
        <p:txBody>
          <a:bodyPr wrap="square" lIns="0" tIns="0" rIns="0" bIns="0" rtlCol="0" anchor="ctr"/>
          <a:lstStyle/>
          <a:p>
            <a:pPr algn="ctr" indent="0" marL="0">
              <a:buNone/>
            </a:pPr>
            <a:r>
              <a:rPr lang="en-US" sz="1400" dirty="0">
                <a:solidFill>
                  <a:srgbClr val="DAD5FF"/>
                </a:solidFill>
                <a:latin typeface="Calibri" pitchFamily="34" charset="0"/>
                <a:ea typeface="Calibri" pitchFamily="34" charset="-122"/>
                <a:cs typeface="Calibri" pitchFamily="34" charset="-120"/>
              </a:rPr>
              <a:t>68% of population  |  IAMAI 2025</a:t>
            </a:r>
            <a:endParaRPr lang="en-US" sz="1400" dirty="0"/>
          </a:p>
        </p:txBody>
      </p:sp>
      <p:sp>
        <p:nvSpPr>
          <p:cNvPr id="10" name="funnel-3"/>
          <p:cNvSpPr/>
          <p:nvPr/>
        </p:nvSpPr>
        <p:spPr>
          <a:xfrm>
            <a:off x="1371600" y="3337560"/>
            <a:ext cx="5760720" cy="841248"/>
          </a:xfrm>
          <a:prstGeom prst="roundRect">
            <a:avLst>
              <a:gd name="adj" fmla="val 17391"/>
            </a:avLst>
          </a:prstGeom>
          <a:solidFill>
            <a:srgbClr val="251D70"/>
          </a:solidFill>
          <a:ln w="25400">
            <a:solidFill>
              <a:srgbClr val="F08DC0"/>
            </a:solidFill>
            <a:prstDash val="solid"/>
          </a:ln>
        </p:spPr>
      </p:sp>
      <p:sp>
        <p:nvSpPr>
          <p:cNvPr id="11" name="Text 9"/>
          <p:cNvSpPr txBox="1"/>
          <p:nvPr/>
        </p:nvSpPr>
        <p:spPr>
          <a:xfrm>
            <a:off x="1554480" y="3355848"/>
            <a:ext cx="539496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Fintech app users</a:t>
            </a:r>
            <a:endParaRPr lang="en-US" sz="1600" dirty="0"/>
          </a:p>
          <a:p>
            <a:pPr algn="ctr" indent="0" marL="0">
              <a:buNone/>
            </a:pPr>
            <a:r>
              <a:rPr lang="en-US" sz="1900" b="1" dirty="0">
                <a:solidFill>
                  <a:srgbClr val="F08DC0"/>
                </a:solidFill>
                <a:latin typeface="Calibri" pitchFamily="34" charset="0"/>
                <a:ea typeface="Calibri" pitchFamily="34" charset="-122"/>
                <a:cs typeface="Calibri" pitchFamily="34" charset="-120"/>
              </a:rPr>
              <a:t>500M+ UPI users</a:t>
            </a:r>
            <a:endParaRPr lang="en-US" sz="1600" dirty="0"/>
          </a:p>
        </p:txBody>
      </p:sp>
      <p:sp>
        <p:nvSpPr>
          <p:cNvPr id="12" name="Text 10"/>
          <p:cNvSpPr txBox="1"/>
          <p:nvPr/>
        </p:nvSpPr>
        <p:spPr>
          <a:xfrm>
            <a:off x="1554480" y="3813048"/>
            <a:ext cx="5394960" cy="329184"/>
          </a:xfrm>
          <a:prstGeom prst="rect">
            <a:avLst/>
          </a:prstGeom>
          <a:noFill/>
          <a:ln/>
        </p:spPr>
        <p:txBody>
          <a:bodyPr wrap="square" lIns="0" tIns="0" rIns="0" bIns="0" rtlCol="0" anchor="ctr"/>
          <a:lstStyle/>
          <a:p>
            <a:pPr algn="ctr" indent="0" marL="0">
              <a:buNone/>
            </a:pPr>
            <a:r>
              <a:rPr lang="en-US" sz="1400" dirty="0">
                <a:solidFill>
                  <a:srgbClr val="DAD5FF"/>
                </a:solidFill>
                <a:latin typeface="Calibri" pitchFamily="34" charset="0"/>
                <a:ea typeface="Calibri" pitchFamily="34" charset="-122"/>
                <a:cs typeface="Calibri" pitchFamily="34" charset="-120"/>
              </a:rPr>
              <a:t>~52% of internet users  |  NPCI-BCG 2025</a:t>
            </a:r>
            <a:endParaRPr lang="en-US" sz="1400" dirty="0"/>
          </a:p>
        </p:txBody>
      </p:sp>
      <p:sp>
        <p:nvSpPr>
          <p:cNvPr id="13" name="funnel-4"/>
          <p:cNvSpPr/>
          <p:nvPr/>
        </p:nvSpPr>
        <p:spPr>
          <a:xfrm>
            <a:off x="1828800" y="4297680"/>
            <a:ext cx="4846320" cy="841248"/>
          </a:xfrm>
          <a:prstGeom prst="roundRect">
            <a:avLst>
              <a:gd name="adj" fmla="val 17391"/>
            </a:avLst>
          </a:prstGeom>
          <a:solidFill>
            <a:srgbClr val="251D70"/>
          </a:solidFill>
          <a:ln w="25400">
            <a:solidFill>
              <a:srgbClr val="3DDBB0"/>
            </a:solidFill>
            <a:prstDash val="solid"/>
          </a:ln>
        </p:spPr>
      </p:sp>
      <p:sp>
        <p:nvSpPr>
          <p:cNvPr id="14" name="Text 12"/>
          <p:cNvSpPr txBox="1"/>
          <p:nvPr/>
        </p:nvSpPr>
        <p:spPr>
          <a:xfrm>
            <a:off x="2011680" y="4315968"/>
            <a:ext cx="448056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Groww active users</a:t>
            </a:r>
            <a:endParaRPr lang="en-US" sz="1600" dirty="0"/>
          </a:p>
          <a:p>
            <a:pPr algn="ctr" indent="0" marL="0">
              <a:buNone/>
            </a:pPr>
            <a:r>
              <a:rPr lang="en-US" sz="1900" b="1" dirty="0">
                <a:solidFill>
                  <a:srgbClr val="3DDBB0"/>
                </a:solidFill>
                <a:latin typeface="Calibri" pitchFamily="34" charset="0"/>
                <a:ea typeface="Calibri" pitchFamily="34" charset="-122"/>
                <a:cs typeface="Calibri" pitchFamily="34" charset="-120"/>
              </a:rPr>
              <a:t>16.7 million</a:t>
            </a:r>
            <a:endParaRPr lang="en-US" sz="1600" dirty="0"/>
          </a:p>
        </p:txBody>
      </p:sp>
      <p:sp>
        <p:nvSpPr>
          <p:cNvPr id="15" name="Text 13"/>
          <p:cNvSpPr txBox="1"/>
          <p:nvPr/>
        </p:nvSpPr>
        <p:spPr>
          <a:xfrm>
            <a:off x="2011680" y="4773168"/>
            <a:ext cx="4480560" cy="329184"/>
          </a:xfrm>
          <a:prstGeom prst="rect">
            <a:avLst/>
          </a:prstGeom>
          <a:noFill/>
          <a:ln/>
        </p:spPr>
        <p:txBody>
          <a:bodyPr wrap="square" lIns="0" tIns="0" rIns="0" bIns="0" rtlCol="0" anchor="ctr"/>
          <a:lstStyle/>
          <a:p>
            <a:pPr algn="ctr" indent="0" marL="0">
              <a:buNone/>
            </a:pPr>
            <a:r>
              <a:rPr lang="en-US" sz="1400" dirty="0">
                <a:solidFill>
                  <a:srgbClr val="DAD5FF"/>
                </a:solidFill>
                <a:latin typeface="Calibri" pitchFamily="34" charset="0"/>
                <a:ea typeface="Calibri" pitchFamily="34" charset="-122"/>
                <a:cs typeface="Calibri" pitchFamily="34" charset="-120"/>
              </a:rPr>
              <a:t>~3% of UPI users  |  Groww Q4 FY26 letter</a:t>
            </a:r>
            <a:endParaRPr lang="en-US" sz="1400" dirty="0"/>
          </a:p>
        </p:txBody>
      </p:sp>
      <p:sp>
        <p:nvSpPr>
          <p:cNvPr id="16" name="funnel-5"/>
          <p:cNvSpPr/>
          <p:nvPr/>
        </p:nvSpPr>
        <p:spPr>
          <a:xfrm>
            <a:off x="2103120" y="5257800"/>
            <a:ext cx="4297680" cy="841248"/>
          </a:xfrm>
          <a:prstGeom prst="roundRect">
            <a:avLst>
              <a:gd name="adj" fmla="val 17391"/>
            </a:avLst>
          </a:prstGeom>
          <a:solidFill>
            <a:srgbClr val="33288F"/>
          </a:solidFill>
          <a:ln w="38100">
            <a:solidFill>
              <a:srgbClr val="F0E442"/>
            </a:solidFill>
            <a:prstDash val="solid"/>
          </a:ln>
        </p:spPr>
      </p:sp>
      <p:sp>
        <p:nvSpPr>
          <p:cNvPr id="17" name="Text 15"/>
          <p:cNvSpPr txBox="1"/>
          <p:nvPr/>
        </p:nvSpPr>
        <p:spPr>
          <a:xfrm>
            <a:off x="2286000" y="5257800"/>
            <a:ext cx="3931920" cy="8412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First-time SIP investors on Groww</a:t>
            </a:r>
            <a:endParaRPr lang="en-US" sz="1600" dirty="0"/>
          </a:p>
          <a:p>
            <a:pPr algn="ctr" indent="0" marL="0">
              <a:buNone/>
            </a:pPr>
            <a:r>
              <a:rPr lang="en-US" sz="1900" b="1" dirty="0">
                <a:solidFill>
                  <a:srgbClr val="F0E442"/>
                </a:solidFill>
                <a:latin typeface="Calibri" pitchFamily="34" charset="0"/>
                <a:ea typeface="Calibri" pitchFamily="34" charset="-122"/>
                <a:cs typeface="Calibri" pitchFamily="34" charset="-120"/>
              </a:rPr>
              <a:t>~2 to 3 million a year (estimate)</a:t>
            </a:r>
            <a:endParaRPr lang="en-US" sz="1600" dirty="0"/>
          </a:p>
        </p:txBody>
      </p:sp>
      <p:sp>
        <p:nvSpPr>
          <p:cNvPr id="18" name="why-door"/>
          <p:cNvSpPr/>
          <p:nvPr/>
        </p:nvSpPr>
        <p:spPr>
          <a:xfrm>
            <a:off x="8275320" y="1417320"/>
            <a:ext cx="3456432" cy="1417320"/>
          </a:xfrm>
          <a:prstGeom prst="roundRect">
            <a:avLst>
              <a:gd name="adj" fmla="val 11613"/>
            </a:avLst>
          </a:prstGeom>
          <a:solidFill>
            <a:srgbClr val="251D70"/>
          </a:solidFill>
          <a:ln w="25400">
            <a:solidFill>
              <a:srgbClr val="56B4E9"/>
            </a:solidFill>
            <a:prstDash val="solid"/>
          </a:ln>
        </p:spPr>
      </p:sp>
      <p:sp>
        <p:nvSpPr>
          <p:cNvPr id="19" name="Text 17"/>
          <p:cNvSpPr txBox="1"/>
          <p:nvPr/>
        </p:nvSpPr>
        <p:spPr>
          <a:xfrm>
            <a:off x="8430768" y="1517904"/>
            <a:ext cx="3154680" cy="1234440"/>
          </a:xfrm>
          <a:prstGeom prst="rect">
            <a:avLst/>
          </a:prstGeom>
          <a:noFill/>
          <a:ln/>
        </p:spPr>
        <p:txBody>
          <a:bodyPr wrap="square" lIns="0" tIns="0" rIns="0" bIns="0" rtlCol="0" anchor="t"/>
          <a:lstStyle/>
          <a:p>
            <a:pPr indent="0" marL="0">
              <a:buNone/>
            </a:pPr>
            <a:r>
              <a:rPr lang="en-US" sz="1600" b="1" dirty="0">
                <a:solidFill>
                  <a:srgbClr val="56B4E9"/>
                </a:solidFill>
                <a:latin typeface="Calibri" pitchFamily="34" charset="0"/>
                <a:ea typeface="Calibri" pitchFamily="34" charset="-122"/>
                <a:cs typeface="Calibri" pitchFamily="34" charset="-120"/>
              </a:rPr>
              <a:t>The entry door
</a:t>
            </a:r>
            <a:pPr indent="0" marL="0">
              <a:buNone/>
            </a:pPr>
            <a:r>
              <a:rPr lang="en-US" sz="1600" dirty="0">
                <a:solidFill>
                  <a:srgbClr val="FFFFFF"/>
                </a:solidFill>
                <a:latin typeface="Calibri" pitchFamily="34" charset="0"/>
                <a:ea typeface="Calibri" pitchFamily="34" charset="-122"/>
                <a:cs typeface="Calibri" pitchFamily="34" charset="-120"/>
              </a:rPr>
              <a:t>36% of new Groww users start with a SIP (Q2 FY26, up 7 points on last year).</a:t>
            </a:r>
            <a:endParaRPr lang="en-US" sz="1600" dirty="0"/>
          </a:p>
        </p:txBody>
      </p:sp>
      <p:sp>
        <p:nvSpPr>
          <p:cNvPr id="20" name="why-leak"/>
          <p:cNvSpPr/>
          <p:nvPr/>
        </p:nvSpPr>
        <p:spPr>
          <a:xfrm>
            <a:off x="8275320" y="2971800"/>
            <a:ext cx="3456432" cy="1508760"/>
          </a:xfrm>
          <a:prstGeom prst="roundRect">
            <a:avLst>
              <a:gd name="adj" fmla="val 10909"/>
            </a:avLst>
          </a:prstGeom>
          <a:solidFill>
            <a:srgbClr val="251D70"/>
          </a:solidFill>
          <a:ln w="25400">
            <a:solidFill>
              <a:srgbClr val="FFB000"/>
            </a:solidFill>
            <a:prstDash val="solid"/>
          </a:ln>
        </p:spPr>
      </p:sp>
      <p:sp>
        <p:nvSpPr>
          <p:cNvPr id="21" name="Text 19"/>
          <p:cNvSpPr txBox="1"/>
          <p:nvPr/>
        </p:nvSpPr>
        <p:spPr>
          <a:xfrm>
            <a:off x="8430768" y="3072384"/>
            <a:ext cx="3154680" cy="1325880"/>
          </a:xfrm>
          <a:prstGeom prst="rect">
            <a:avLst/>
          </a:prstGeom>
          <a:noFill/>
          <a:ln/>
        </p:spPr>
        <p:txBody>
          <a:bodyPr wrap="square" lIns="0" tIns="0" rIns="0" bIns="0" rtlCol="0" anchor="t"/>
          <a:lstStyle/>
          <a:p>
            <a:pPr indent="0" marL="0">
              <a:buNone/>
            </a:pPr>
            <a:r>
              <a:rPr lang="en-US" sz="1600" b="1" dirty="0">
                <a:solidFill>
                  <a:srgbClr val="FFB000"/>
                </a:solidFill>
                <a:latin typeface="Calibri" pitchFamily="34" charset="0"/>
                <a:ea typeface="Calibri" pitchFamily="34" charset="-122"/>
                <a:cs typeface="Calibri" pitchFamily="34" charset="-120"/>
              </a:rPr>
              <a:t>The leak
</a:t>
            </a:r>
            <a:pPr indent="0" marL="0">
              <a:buNone/>
            </a:pPr>
            <a:r>
              <a:rPr lang="en-US" sz="1600" dirty="0">
                <a:solidFill>
                  <a:srgbClr val="FFFFFF"/>
                </a:solidFill>
                <a:latin typeface="Calibri" pitchFamily="34" charset="0"/>
                <a:ea typeface="Calibri" pitchFamily="34" charset="-122"/>
                <a:cs typeface="Calibri" pitchFamily="34" charset="-120"/>
              </a:rPr>
              <a:t>SIP stoppage ratio 78.5% in Sep 2026: 63.26 lakh new SIPs vs 49.68 lakh closed or completed.</a:t>
            </a:r>
            <a:endParaRPr lang="en-US" sz="1600" dirty="0"/>
          </a:p>
        </p:txBody>
      </p:sp>
      <p:sp>
        <p:nvSpPr>
          <p:cNvPr id="22" name="why-estimate"/>
          <p:cNvSpPr/>
          <p:nvPr/>
        </p:nvSpPr>
        <p:spPr>
          <a:xfrm>
            <a:off x="8275320" y="4617720"/>
            <a:ext cx="3456432" cy="1371600"/>
          </a:xfrm>
          <a:prstGeom prst="roundRect">
            <a:avLst>
              <a:gd name="adj" fmla="val 12000"/>
            </a:avLst>
          </a:prstGeom>
          <a:solidFill>
            <a:srgbClr val="251D70"/>
          </a:solidFill>
          <a:ln w="25400">
            <a:solidFill>
              <a:srgbClr val="F0E442"/>
            </a:solidFill>
            <a:prstDash val="solid"/>
          </a:ln>
        </p:spPr>
      </p:sp>
      <p:sp>
        <p:nvSpPr>
          <p:cNvPr id="23" name="Text 21"/>
          <p:cNvSpPr txBox="1"/>
          <p:nvPr/>
        </p:nvSpPr>
        <p:spPr>
          <a:xfrm>
            <a:off x="8430768" y="4700016"/>
            <a:ext cx="3154680" cy="1234440"/>
          </a:xfrm>
          <a:prstGeom prst="rect">
            <a:avLst/>
          </a:prstGeom>
          <a:noFill/>
          <a:ln/>
        </p:spPr>
        <p:txBody>
          <a:bodyPr wrap="square" lIns="0" tIns="0" rIns="0" bIns="0" rtlCol="0" anchor="t"/>
          <a:lstStyle/>
          <a:p>
            <a:pPr indent="0" marL="0">
              <a:buNone/>
            </a:pPr>
            <a:r>
              <a:rPr lang="en-US" sz="1600" b="1" dirty="0">
                <a:solidFill>
                  <a:srgbClr val="F0E442"/>
                </a:solidFill>
                <a:latin typeface="Calibri" pitchFamily="34" charset="0"/>
                <a:ea typeface="Calibri" pitchFamily="34" charset="-122"/>
                <a:cs typeface="Calibri" pitchFamily="34" charset="-120"/>
              </a:rPr>
              <a:t>Estimate logic
</a:t>
            </a:r>
            <a:pPr indent="0" marL="0">
              <a:buNone/>
            </a:pPr>
            <a:r>
              <a:rPr lang="en-US" sz="1600" dirty="0">
                <a:solidFill>
                  <a:srgbClr val="FFFFFF"/>
                </a:solidFill>
                <a:latin typeface="Calibri" pitchFamily="34" charset="0"/>
                <a:ea typeface="Calibri" pitchFamily="34" charset="-122"/>
                <a:cs typeface="Calibri" pitchFamily="34" charset="-120"/>
              </a:rPr>
              <a:t>60% of 16.7M users hold mutual funds (~10M). Assumed 20-30% began their first SIP in the last year.</a:t>
            </a:r>
            <a:endParaRPr lang="en-US" sz="1600" dirty="0"/>
          </a:p>
        </p:txBody>
      </p:sp>
      <p:sp>
        <p:nvSpPr>
          <p:cNvPr id="24" name="Text 22"/>
          <p:cNvSpPr txBox="1"/>
          <p:nvPr/>
        </p:nvSpPr>
        <p:spPr>
          <a:xfrm>
            <a:off x="457200" y="6144768"/>
            <a:ext cx="11247120" cy="45720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Sources: </a:t>
            </a:r>
            <a:pPr indent="0" marL="0">
              <a:buNone/>
            </a:pPr>
            <a:r>
              <a:rPr lang="en-US" sz="1400" b="1" u="sng" dirty="0">
                <a:solidFill>
                  <a:srgbClr val="56B4E9"/>
                </a:solidFill>
                <a:uFill>
                  <a:solidFill>
                    <a:srgbClr val="56B4E9"/>
                  </a:solidFill>
                </a:uFill>
                <a:latin typeface="Calibri" pitchFamily="34" charset="0"/>
                <a:ea typeface="Calibri" pitchFamily="34" charset="-122"/>
                <a:cs typeface="Calibri" pitchFamily="34" charset="-120"/>
                <a:hlinkClick r:id="rId1" invalidUrl="" action="" tgtFrame="" tooltip="https://yourstory.com/2026/01/indias-internet-user-base-crosses-950-million-2025-iamai-report" history="1" highlightClick="0" endSnd="0">
                  <a:extLst>
                    <a:ext uri="{A12FA001-AC4F-418D-AE19-62706E023703}">
                      <ahyp:hlinkClr xmlns:ahyp="http://schemas.microsoft.com/office/drawing/2018/hyperlinkcolor" val="tx"/>
                    </a:ext>
                  </a:extLst>
                </a:hlinkClick>
              </a:rPr>
              <a:t>IAMAI 2025</a:t>
            </a:r>
            <a:pPr indent="0" marL="0">
              <a:buNone/>
            </a:pPr>
            <a:r>
              <a:rPr lang="en-US" sz="1400" dirty="0">
                <a:solidFill>
                  <a:srgbClr val="DAD5FF"/>
                </a:solidFill>
                <a:latin typeface="Calibri" pitchFamily="34" charset="0"/>
                <a:ea typeface="Calibri" pitchFamily="34" charset="-122"/>
                <a:cs typeface="Calibri" pitchFamily="34" charset="-120"/>
              </a:rPr>
              <a:t>  |  </a:t>
            </a:r>
            <a:pPr indent="0" marL="0">
              <a:buNone/>
            </a:pPr>
            <a:r>
              <a:rPr lang="en-US" sz="1400" b="1" u="sng" dirty="0">
                <a:solidFill>
                  <a:srgbClr val="56B4E9"/>
                </a:solidFill>
                <a:uFill>
                  <a:solidFill>
                    <a:srgbClr val="56B4E9"/>
                  </a:solidFill>
                </a:uFill>
                <a:latin typeface="Calibri" pitchFamily="34" charset="0"/>
                <a:ea typeface="Calibri" pitchFamily="34" charset="-122"/>
                <a:cs typeface="Calibri" pitchFamily="34" charset="-120"/>
                <a:hlinkClick r:id="rId2" invalidUrl="" action="" tgtFrame="" tooltip="https://assets.thehansindia.com/business/upi-crosses-500-million-users-sets-global-benchmark-for-digital-payments-bcgnpci-report-1013164" history="1" highlightClick="0" endSnd="0">
                  <a:extLst>
                    <a:ext uri="{A12FA001-AC4F-418D-AE19-62706E023703}">
                      <ahyp:hlinkClr xmlns:ahyp="http://schemas.microsoft.com/office/drawing/2018/hyperlinkcolor" val="tx"/>
                    </a:ext>
                  </a:extLst>
                </a:hlinkClick>
              </a:rPr>
              <a:t>NPCI-BCG</a:t>
            </a:r>
            <a:pPr indent="0" marL="0">
              <a:buNone/>
            </a:pPr>
            <a:r>
              <a:rPr lang="en-US" sz="1400" dirty="0">
                <a:solidFill>
                  <a:srgbClr val="DAD5FF"/>
                </a:solidFill>
                <a:latin typeface="Calibri" pitchFamily="34" charset="0"/>
                <a:ea typeface="Calibri" pitchFamily="34" charset="-122"/>
                <a:cs typeface="Calibri" pitchFamily="34" charset="-120"/>
              </a:rPr>
              <a:t>  |  </a:t>
            </a:r>
            <a:pPr indent="0" marL="0">
              <a:buNone/>
            </a:pPr>
            <a:r>
              <a:rPr lang="en-US" sz="1400" b="1" u="sng" dirty="0">
                <a:solidFill>
                  <a:srgbClr val="56B4E9"/>
                </a:solidFill>
                <a:uFill>
                  <a:solidFill>
                    <a:srgbClr val="56B4E9"/>
                  </a:solidFill>
                </a:uFill>
                <a:latin typeface="Calibri" pitchFamily="34" charset="0"/>
                <a:ea typeface="Calibri" pitchFamily="34" charset="-122"/>
                <a:cs typeface="Calibri" pitchFamily="34" charset="-120"/>
                <a:hlinkClick r:id="rId3" invalidUrl="" action="" tgtFrame="" tooltip="https://nsearchives.nseindia.com/corporate/BILLIONBRAINS_20042026132113_ShareholdrsLetterSigned.pdf" history="1" highlightClick="0" endSnd="0">
                  <a:extLst>
                    <a:ext uri="{A12FA001-AC4F-418D-AE19-62706E023703}">
                      <ahyp:hlinkClr xmlns:ahyp="http://schemas.microsoft.com/office/drawing/2018/hyperlinkcolor" val="tx"/>
                    </a:ext>
                  </a:extLst>
                </a:hlinkClick>
              </a:rPr>
              <a:t>Groww letter Q4 FY26</a:t>
            </a:r>
            <a:pPr indent="0" marL="0">
              <a:buNone/>
            </a:pPr>
            <a:r>
              <a:rPr lang="en-US" sz="1400" dirty="0">
                <a:solidFill>
                  <a:srgbClr val="DAD5FF"/>
                </a:solidFill>
                <a:latin typeface="Calibri" pitchFamily="34" charset="0"/>
                <a:ea typeface="Calibri" pitchFamily="34" charset="-122"/>
                <a:cs typeface="Calibri" pitchFamily="34" charset="-120"/>
              </a:rPr>
              <a:t>  |  </a:t>
            </a:r>
            <a:pPr indent="0" marL="0">
              <a:buNone/>
            </a:pPr>
            <a:r>
              <a:rPr lang="en-US" sz="1400" b="1" u="sng" dirty="0">
                <a:solidFill>
                  <a:srgbClr val="56B4E9"/>
                </a:solidFill>
                <a:uFill>
                  <a:solidFill>
                    <a:srgbClr val="56B4E9"/>
                  </a:solidFill>
                </a:uFill>
                <a:latin typeface="Calibri" pitchFamily="34" charset="0"/>
                <a:ea typeface="Calibri" pitchFamily="34" charset="-122"/>
                <a:cs typeface="Calibri" pitchFamily="34" charset="-120"/>
                <a:hlinkClick r:id="rId4" invalidUrl="" action="" tgtFrame="" tooltip="https://resources.groww.in/web-assets/media-library/2025/11/Q2%20FY26%20Shareholders%27%20Letter.pdf" history="1" highlightClick="0" endSnd="0">
                  <a:extLst>
                    <a:ext uri="{A12FA001-AC4F-418D-AE19-62706E023703}">
                      <ahyp:hlinkClr xmlns:ahyp="http://schemas.microsoft.com/office/drawing/2018/hyperlinkcolor" val="tx"/>
                    </a:ext>
                  </a:extLst>
                </a:hlinkClick>
              </a:rPr>
              <a:t>Groww letter Q2 FY26</a:t>
            </a:r>
            <a:pPr indent="0" marL="0">
              <a:buNone/>
            </a:pPr>
            <a:r>
              <a:rPr lang="en-US" sz="1400" dirty="0">
                <a:solidFill>
                  <a:srgbClr val="DAD5FF"/>
                </a:solidFill>
                <a:latin typeface="Calibri" pitchFamily="34" charset="0"/>
                <a:ea typeface="Calibri" pitchFamily="34" charset="-122"/>
                <a:cs typeface="Calibri" pitchFamily="34" charset="-120"/>
              </a:rPr>
              <a:t>  |  </a:t>
            </a:r>
            <a:pPr indent="0" marL="0">
              <a:buNone/>
            </a:pPr>
            <a:r>
              <a:rPr lang="en-US" sz="1400" b="1" u="sng" dirty="0">
                <a:solidFill>
                  <a:srgbClr val="56B4E9"/>
                </a:solidFill>
                <a:uFill>
                  <a:solidFill>
                    <a:srgbClr val="56B4E9"/>
                  </a:solidFill>
                </a:uFill>
                <a:latin typeface="Calibri" pitchFamily="34" charset="0"/>
                <a:ea typeface="Calibri" pitchFamily="34" charset="-122"/>
                <a:cs typeface="Calibri" pitchFamily="34" charset="-120"/>
                <a:hlinkClick r:id="rId5" invalidUrl="" action="" tgtFrame="" tooltip="https://www.angelone.in/news/mutual-funds/sip-stoppage-ratio-falls-for-5th-straight-month-to-78-53-in-september-2026" history="1" highlightClick="0" endSnd="0">
                  <a:extLst>
                    <a:ext uri="{A12FA001-AC4F-418D-AE19-62706E023703}">
                      <ahyp:hlinkClr xmlns:ahyp="http://schemas.microsoft.com/office/drawing/2018/hyperlinkcolor" val="tx"/>
                    </a:ext>
                  </a:extLst>
                </a:hlinkClick>
              </a:rPr>
              <a:t>SIP stoppage Sep 2026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Early-career salaried investors (22 to 30) are the largest first-time SIP group, and the most likely to wobble</a:t>
            </a:r>
            <a:endParaRPr lang="en-US" sz="2700" dirty="0"/>
          </a:p>
        </p:txBody>
      </p:sp>
      <p:sp>
        <p:nvSpPr>
          <p:cNvPr id="5" name="segment-1"/>
          <p:cNvSpPr/>
          <p:nvPr/>
        </p:nvSpPr>
        <p:spPr>
          <a:xfrm>
            <a:off x="457200" y="1371600"/>
            <a:ext cx="3749040" cy="2267712"/>
          </a:xfrm>
          <a:prstGeom prst="roundRect">
            <a:avLst>
              <a:gd name="adj" fmla="val 7258"/>
            </a:avLst>
          </a:prstGeom>
          <a:solidFill>
            <a:srgbClr val="251D70"/>
          </a:solidFill>
          <a:ln w="25400">
            <a:solidFill>
              <a:srgbClr val="56B4E9"/>
            </a:solidFill>
            <a:prstDash val="solid"/>
          </a:ln>
        </p:spPr>
      </p:sp>
      <p:sp>
        <p:nvSpPr>
          <p:cNvPr id="6" name="badge-1"/>
          <p:cNvSpPr/>
          <p:nvPr/>
        </p:nvSpPr>
        <p:spPr>
          <a:xfrm>
            <a:off x="594360" y="1508760"/>
            <a:ext cx="420624" cy="420624"/>
          </a:xfrm>
          <a:prstGeom prst="ellipse">
            <a:avLst/>
          </a:prstGeom>
          <a:solidFill>
            <a:srgbClr val="56B4E9"/>
          </a:solidFill>
          <a:ln w="12700">
            <a:solidFill>
              <a:srgbClr val="56B4E9"/>
            </a:solidFill>
            <a:prstDash val="solid"/>
          </a:ln>
        </p:spPr>
      </p:sp>
      <p:sp>
        <p:nvSpPr>
          <p:cNvPr id="7" name="Text 5"/>
          <p:cNvSpPr txBox="1"/>
          <p:nvPr/>
        </p:nvSpPr>
        <p:spPr>
          <a:xfrm>
            <a:off x="594360" y="1508760"/>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115568" y="1481328"/>
            <a:ext cx="297180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Students and under-22s</a:t>
            </a:r>
            <a:endParaRPr lang="en-US" sz="1700" dirty="0"/>
          </a:p>
        </p:txBody>
      </p:sp>
      <p:sp>
        <p:nvSpPr>
          <p:cNvPr id="9" name="Text 7"/>
          <p:cNvSpPr txBox="1"/>
          <p:nvPr/>
        </p:nvSpPr>
        <p:spPr>
          <a:xfrm>
            <a:off x="640080" y="2057400"/>
            <a:ext cx="3383280" cy="1508760"/>
          </a:xfrm>
          <a:prstGeom prst="rect">
            <a:avLst/>
          </a:prstGeom>
          <a:noFill/>
          <a:ln/>
        </p:spPr>
        <p:txBody>
          <a:bodyPr wrap="square" lIns="0" tIns="0" rIns="0" bIns="0" rtlCol="0" anchor="t"/>
          <a:lstStyle/>
          <a:p>
            <a:pPr indent="0" marL="0">
              <a:buNone/>
            </a:pPr>
            <a:r>
              <a:rPr lang="en-US" sz="1600" dirty="0">
                <a:solidFill>
                  <a:srgbClr val="DAD5FF"/>
                </a:solidFill>
                <a:latin typeface="Calibri" pitchFamily="34" charset="0"/>
                <a:ea typeface="Calibri" pitchFamily="34" charset="-122"/>
                <a:cs typeface="Calibri" pitchFamily="34" charset="-120"/>
              </a:rPr>
              <a:t>Family-funded, small tickets
</a:t>
            </a:r>
            <a:pPr indent="0" marL="0">
              <a:buNone/>
            </a:pPr>
            <a:r>
              <a:rPr lang="en-US" sz="1600" b="1" dirty="0">
                <a:solidFill>
                  <a:srgbClr val="FFFFFF"/>
                </a:solidFill>
                <a:latin typeface="Calibri" pitchFamily="34" charset="0"/>
                <a:ea typeface="Calibri" pitchFamily="34" charset="-122"/>
                <a:cs typeface="Calibri" pitchFamily="34" charset="-120"/>
              </a:rPr>
              <a:t>21% of age-stating posts
</a:t>
            </a:r>
            <a:pPr indent="0" marL="0">
              <a:buNone/>
            </a:pPr>
            <a:r>
              <a:rPr lang="en-US" sz="1600" b="1" dirty="0">
                <a:solidFill>
                  <a:srgbClr val="FFFFFF"/>
                </a:solidFill>
                <a:latin typeface="Calibri" pitchFamily="34" charset="0"/>
                <a:ea typeface="Calibri" pitchFamily="34" charset="-122"/>
                <a:cs typeface="Calibri" pitchFamily="34" charset="-120"/>
              </a:rPr>
              <a:t>6% show a drop-off signal
</a:t>
            </a:r>
            <a:pPr indent="0" marL="0">
              <a:buNone/>
            </a:pPr>
            <a:r>
              <a:rPr lang="en-US" sz="1600" dirty="0">
                <a:solidFill>
                  <a:srgbClr val="DAD5FF"/>
                </a:solidFill>
                <a:latin typeface="Calibri" pitchFamily="34" charset="0"/>
                <a:ea typeface="Calibri" pitchFamily="34" charset="-122"/>
                <a:cs typeface="Calibri" pitchFamily="34" charset="-120"/>
              </a:rPr>
              <a:t>Needs: expectation-setting</a:t>
            </a:r>
            <a:endParaRPr lang="en-US" sz="1600" dirty="0"/>
          </a:p>
        </p:txBody>
      </p:sp>
      <p:sp>
        <p:nvSpPr>
          <p:cNvPr id="10" name="segment-2"/>
          <p:cNvSpPr/>
          <p:nvPr/>
        </p:nvSpPr>
        <p:spPr>
          <a:xfrm>
            <a:off x="4389120" y="1371600"/>
            <a:ext cx="3749040" cy="2267712"/>
          </a:xfrm>
          <a:prstGeom prst="roundRect">
            <a:avLst>
              <a:gd name="adj" fmla="val 7258"/>
            </a:avLst>
          </a:prstGeom>
          <a:solidFill>
            <a:srgbClr val="33288F"/>
          </a:solidFill>
          <a:ln w="25400">
            <a:solidFill>
              <a:srgbClr val="FFB000"/>
            </a:solidFill>
            <a:prstDash val="solid"/>
          </a:ln>
        </p:spPr>
      </p:sp>
      <p:sp>
        <p:nvSpPr>
          <p:cNvPr id="11" name="badge-2"/>
          <p:cNvSpPr/>
          <p:nvPr/>
        </p:nvSpPr>
        <p:spPr>
          <a:xfrm>
            <a:off x="4526280" y="1508760"/>
            <a:ext cx="420624" cy="420624"/>
          </a:xfrm>
          <a:prstGeom prst="ellipse">
            <a:avLst/>
          </a:prstGeom>
          <a:solidFill>
            <a:srgbClr val="FFB000"/>
          </a:solidFill>
          <a:ln w="12700">
            <a:solidFill>
              <a:srgbClr val="FFB000"/>
            </a:solidFill>
            <a:prstDash val="solid"/>
          </a:ln>
        </p:spPr>
      </p:sp>
      <p:sp>
        <p:nvSpPr>
          <p:cNvPr id="12" name="Text 10"/>
          <p:cNvSpPr txBox="1"/>
          <p:nvPr/>
        </p:nvSpPr>
        <p:spPr>
          <a:xfrm>
            <a:off x="4526280" y="1508760"/>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5047488" y="1481328"/>
            <a:ext cx="2971800" cy="502920"/>
          </a:xfrm>
          <a:prstGeom prst="rect">
            <a:avLst/>
          </a:prstGeom>
          <a:noFill/>
          <a:ln/>
        </p:spPr>
        <p:txBody>
          <a:bodyPr wrap="square" lIns="0" tIns="0" rIns="0" bIns="0" rtlCol="0" anchor="ctr"/>
          <a:lstStyle/>
          <a:p>
            <a:pPr indent="0" marL="0">
              <a:buNone/>
            </a:pPr>
            <a:r>
              <a:rPr lang="en-US" sz="1700" b="1" dirty="0">
                <a:solidFill>
                  <a:srgbClr val="FFB000"/>
                </a:solidFill>
                <a:latin typeface="Calibri" pitchFamily="34" charset="0"/>
                <a:ea typeface="Calibri" pitchFamily="34" charset="-122"/>
                <a:cs typeface="Calibri" pitchFamily="34" charset="-120"/>
              </a:rPr>
              <a:t>Early-career salaried, 22 to 30</a:t>
            </a:r>
            <a:endParaRPr lang="en-US" sz="1700" dirty="0"/>
          </a:p>
        </p:txBody>
      </p:sp>
      <p:sp>
        <p:nvSpPr>
          <p:cNvPr id="14" name="Text 12"/>
          <p:cNvSpPr txBox="1"/>
          <p:nvPr/>
        </p:nvSpPr>
        <p:spPr>
          <a:xfrm>
            <a:off x="4572000" y="2057400"/>
            <a:ext cx="3383280" cy="1508760"/>
          </a:xfrm>
          <a:prstGeom prst="rect">
            <a:avLst/>
          </a:prstGeom>
          <a:noFill/>
          <a:ln/>
        </p:spPr>
        <p:txBody>
          <a:bodyPr wrap="square" lIns="0" tIns="0" rIns="0" bIns="0" rtlCol="0" anchor="t"/>
          <a:lstStyle/>
          <a:p>
            <a:pPr indent="0" marL="0">
              <a:buNone/>
            </a:pPr>
            <a:r>
              <a:rPr lang="en-US" sz="1600" dirty="0">
                <a:solidFill>
                  <a:srgbClr val="DAD5FF"/>
                </a:solidFill>
                <a:latin typeface="Calibri" pitchFamily="34" charset="0"/>
                <a:ea typeface="Calibri" pitchFamily="34" charset="-122"/>
                <a:cs typeface="Calibri" pitchFamily="34" charset="-120"/>
              </a:rPr>
              <a:t>SIP paid from monthly salary
</a:t>
            </a:r>
            <a:pPr indent="0" marL="0">
              <a:buNone/>
            </a:pPr>
            <a:r>
              <a:rPr lang="en-US" sz="1600" b="1" dirty="0">
                <a:solidFill>
                  <a:srgbClr val="FFFFFF"/>
                </a:solidFill>
                <a:latin typeface="Calibri" pitchFamily="34" charset="0"/>
                <a:ea typeface="Calibri" pitchFamily="34" charset="-122"/>
                <a:cs typeface="Calibri" pitchFamily="34" charset="-120"/>
              </a:rPr>
              <a:t>60% by age  |  73% fixed salary
</a:t>
            </a:r>
            <a:pPr indent="0" marL="0">
              <a:buNone/>
            </a:pPr>
            <a:r>
              <a:rPr lang="en-US" sz="1600" b="1" dirty="0">
                <a:solidFill>
                  <a:srgbClr val="FFB000"/>
                </a:solidFill>
                <a:latin typeface="Calibri" pitchFamily="34" charset="0"/>
                <a:ea typeface="Calibri" pitchFamily="34" charset="-122"/>
                <a:cs typeface="Calibri" pitchFamily="34" charset="-120"/>
              </a:rPr>
              <a:t>12% drop-off signal (highest)
</a:t>
            </a:r>
            <a:pPr indent="0" marL="0">
              <a:buNone/>
            </a:pPr>
            <a:r>
              <a:rPr lang="en-US" sz="1600" dirty="0">
                <a:solidFill>
                  <a:srgbClr val="DAD5FF"/>
                </a:solidFill>
                <a:latin typeface="Calibri" pitchFamily="34" charset="0"/>
                <a:ea typeface="Calibri" pitchFamily="34" charset="-122"/>
                <a:cs typeface="Calibri" pitchFamily="34" charset="-120"/>
              </a:rPr>
              <a:t>Needs: pause or reduce, expectation-setting</a:t>
            </a:r>
            <a:endParaRPr lang="en-US" sz="1600" dirty="0"/>
          </a:p>
        </p:txBody>
      </p:sp>
      <p:sp>
        <p:nvSpPr>
          <p:cNvPr id="15" name="target-tag"/>
          <p:cNvSpPr/>
          <p:nvPr/>
        </p:nvSpPr>
        <p:spPr>
          <a:xfrm>
            <a:off x="6995160" y="1188720"/>
            <a:ext cx="1051560" cy="329184"/>
          </a:xfrm>
          <a:prstGeom prst="roundRect">
            <a:avLst>
              <a:gd name="adj" fmla="val 50000"/>
            </a:avLst>
          </a:prstGeom>
          <a:solidFill>
            <a:srgbClr val="FFB000"/>
          </a:solidFill>
          <a:ln w="12700">
            <a:solidFill>
              <a:srgbClr val="FFB000"/>
            </a:solidFill>
            <a:prstDash val="solid"/>
          </a:ln>
        </p:spPr>
      </p:sp>
      <p:sp>
        <p:nvSpPr>
          <p:cNvPr id="16" name="Text 14"/>
          <p:cNvSpPr txBox="1"/>
          <p:nvPr/>
        </p:nvSpPr>
        <p:spPr>
          <a:xfrm>
            <a:off x="6995160" y="1188720"/>
            <a:ext cx="1051560" cy="329184"/>
          </a:xfrm>
          <a:prstGeom prst="rect">
            <a:avLst/>
          </a:prstGeom>
          <a:noFill/>
          <a:ln/>
        </p:spPr>
        <p:txBody>
          <a:bodyPr wrap="square" lIns="0" tIns="0" rIns="0" bIns="0" rtlCol="0" anchor="ctr"/>
          <a:lstStyle/>
          <a:p>
            <a:pPr algn="ctr" indent="0" marL="0">
              <a:buNone/>
            </a:pPr>
            <a:r>
              <a:rPr lang="en-US" sz="1400" b="1" dirty="0">
                <a:solidFill>
                  <a:srgbClr val="140F3D"/>
                </a:solidFill>
                <a:latin typeface="Calibri" pitchFamily="34" charset="0"/>
                <a:ea typeface="Calibri" pitchFamily="34" charset="-122"/>
                <a:cs typeface="Calibri" pitchFamily="34" charset="-120"/>
              </a:rPr>
              <a:t>TARGET</a:t>
            </a:r>
            <a:endParaRPr lang="en-US" sz="1400" dirty="0"/>
          </a:p>
        </p:txBody>
      </p:sp>
      <p:sp>
        <p:nvSpPr>
          <p:cNvPr id="17" name="segment-3"/>
          <p:cNvSpPr/>
          <p:nvPr/>
        </p:nvSpPr>
        <p:spPr>
          <a:xfrm>
            <a:off x="457200" y="3767328"/>
            <a:ext cx="3749040" cy="2267712"/>
          </a:xfrm>
          <a:prstGeom prst="roundRect">
            <a:avLst>
              <a:gd name="adj" fmla="val 7258"/>
            </a:avLst>
          </a:prstGeom>
          <a:solidFill>
            <a:srgbClr val="251D70"/>
          </a:solidFill>
          <a:ln w="25400">
            <a:solidFill>
              <a:srgbClr val="F08DC0"/>
            </a:solidFill>
            <a:prstDash val="solid"/>
          </a:ln>
        </p:spPr>
      </p:sp>
      <p:sp>
        <p:nvSpPr>
          <p:cNvPr id="18" name="badge-3"/>
          <p:cNvSpPr/>
          <p:nvPr/>
        </p:nvSpPr>
        <p:spPr>
          <a:xfrm>
            <a:off x="594360" y="3904488"/>
            <a:ext cx="420624" cy="420624"/>
          </a:xfrm>
          <a:prstGeom prst="ellipse">
            <a:avLst/>
          </a:prstGeom>
          <a:solidFill>
            <a:srgbClr val="F08DC0"/>
          </a:solidFill>
          <a:ln w="12700">
            <a:solidFill>
              <a:srgbClr val="F08DC0"/>
            </a:solidFill>
            <a:prstDash val="solid"/>
          </a:ln>
        </p:spPr>
      </p:sp>
      <p:sp>
        <p:nvSpPr>
          <p:cNvPr id="19" name="Text 17"/>
          <p:cNvSpPr txBox="1"/>
          <p:nvPr/>
        </p:nvSpPr>
        <p:spPr>
          <a:xfrm>
            <a:off x="594360" y="3904488"/>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3</a:t>
            </a:r>
            <a:endParaRPr lang="en-US" sz="1800" dirty="0"/>
          </a:p>
        </p:txBody>
      </p:sp>
      <p:sp>
        <p:nvSpPr>
          <p:cNvPr id="20" name="Text 18"/>
          <p:cNvSpPr txBox="1"/>
          <p:nvPr/>
        </p:nvSpPr>
        <p:spPr>
          <a:xfrm>
            <a:off x="1115568" y="3877056"/>
            <a:ext cx="297180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Variable-income earners</a:t>
            </a:r>
            <a:endParaRPr lang="en-US" sz="1700" dirty="0"/>
          </a:p>
        </p:txBody>
      </p:sp>
      <p:sp>
        <p:nvSpPr>
          <p:cNvPr id="21" name="Text 19"/>
          <p:cNvSpPr txBox="1"/>
          <p:nvPr/>
        </p:nvSpPr>
        <p:spPr>
          <a:xfrm>
            <a:off x="640080" y="4453128"/>
            <a:ext cx="3383280" cy="1508760"/>
          </a:xfrm>
          <a:prstGeom prst="rect">
            <a:avLst/>
          </a:prstGeom>
          <a:noFill/>
          <a:ln/>
        </p:spPr>
        <p:txBody>
          <a:bodyPr wrap="square" lIns="0" tIns="0" rIns="0" bIns="0" rtlCol="0" anchor="t"/>
          <a:lstStyle/>
          <a:p>
            <a:pPr indent="0" marL="0">
              <a:buNone/>
            </a:pPr>
            <a:r>
              <a:rPr lang="en-US" sz="1600" dirty="0">
                <a:solidFill>
                  <a:srgbClr val="DAD5FF"/>
                </a:solidFill>
                <a:latin typeface="Calibri" pitchFamily="34" charset="0"/>
                <a:ea typeface="Calibri" pitchFamily="34" charset="-122"/>
                <a:cs typeface="Calibri" pitchFamily="34" charset="-120"/>
              </a:rPr>
              <a:t>Freelance, gig, small business
</a:t>
            </a:r>
            <a:pPr indent="0" marL="0">
              <a:buNone/>
            </a:pPr>
            <a:r>
              <a:rPr lang="en-US" sz="1600" b="1" dirty="0">
                <a:solidFill>
                  <a:srgbClr val="FFFFFF"/>
                </a:solidFill>
                <a:latin typeface="Calibri" pitchFamily="34" charset="0"/>
                <a:ea typeface="Calibri" pitchFamily="34" charset="-122"/>
                <a:cs typeface="Calibri" pitchFamily="34" charset="-120"/>
              </a:rPr>
              <a:t>14% of income-stating posts
</a:t>
            </a:r>
            <a:pPr indent="0" marL="0">
              <a:buNone/>
            </a:pPr>
            <a:r>
              <a:rPr lang="en-US" sz="1600" b="1" dirty="0">
                <a:solidFill>
                  <a:srgbClr val="FFFFFF"/>
                </a:solidFill>
                <a:latin typeface="Calibri" pitchFamily="34" charset="0"/>
                <a:ea typeface="Calibri" pitchFamily="34" charset="-122"/>
                <a:cs typeface="Calibri" pitchFamily="34" charset="-120"/>
              </a:rPr>
              <a:t>11% show a drop-off signal
</a:t>
            </a:r>
            <a:pPr indent="0" marL="0">
              <a:buNone/>
            </a:pPr>
            <a:r>
              <a:rPr lang="en-US" sz="1600" dirty="0">
                <a:solidFill>
                  <a:srgbClr val="DAD5FF"/>
                </a:solidFill>
                <a:latin typeface="Calibri" pitchFamily="34" charset="0"/>
                <a:ea typeface="Calibri" pitchFamily="34" charset="-122"/>
                <a:cs typeface="Calibri" pitchFamily="34" charset="-120"/>
              </a:rPr>
              <a:t>Needs: pause, skip or reduce</a:t>
            </a:r>
            <a:endParaRPr lang="en-US" sz="1600" dirty="0"/>
          </a:p>
        </p:txBody>
      </p:sp>
      <p:sp>
        <p:nvSpPr>
          <p:cNvPr id="22" name="segment-4"/>
          <p:cNvSpPr/>
          <p:nvPr/>
        </p:nvSpPr>
        <p:spPr>
          <a:xfrm>
            <a:off x="4389120" y="3767328"/>
            <a:ext cx="3749040" cy="2267712"/>
          </a:xfrm>
          <a:prstGeom prst="roundRect">
            <a:avLst>
              <a:gd name="adj" fmla="val 7258"/>
            </a:avLst>
          </a:prstGeom>
          <a:solidFill>
            <a:srgbClr val="251D70"/>
          </a:solidFill>
          <a:ln w="25400">
            <a:solidFill>
              <a:srgbClr val="3DDBB0"/>
            </a:solidFill>
            <a:prstDash val="solid"/>
          </a:ln>
        </p:spPr>
      </p:sp>
      <p:sp>
        <p:nvSpPr>
          <p:cNvPr id="23" name="badge-4"/>
          <p:cNvSpPr/>
          <p:nvPr/>
        </p:nvSpPr>
        <p:spPr>
          <a:xfrm>
            <a:off x="4526280" y="3904488"/>
            <a:ext cx="420624" cy="420624"/>
          </a:xfrm>
          <a:prstGeom prst="ellipse">
            <a:avLst/>
          </a:prstGeom>
          <a:solidFill>
            <a:srgbClr val="3DDBB0"/>
          </a:solidFill>
          <a:ln w="12700">
            <a:solidFill>
              <a:srgbClr val="3DDBB0"/>
            </a:solidFill>
            <a:prstDash val="solid"/>
          </a:ln>
        </p:spPr>
      </p:sp>
      <p:sp>
        <p:nvSpPr>
          <p:cNvPr id="24" name="Text 22"/>
          <p:cNvSpPr txBox="1"/>
          <p:nvPr/>
        </p:nvSpPr>
        <p:spPr>
          <a:xfrm>
            <a:off x="4526280" y="3904488"/>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4</a:t>
            </a:r>
            <a:endParaRPr lang="en-US" sz="1800" dirty="0"/>
          </a:p>
        </p:txBody>
      </p:sp>
      <p:sp>
        <p:nvSpPr>
          <p:cNvPr id="25" name="Text 23"/>
          <p:cNvSpPr txBox="1"/>
          <p:nvPr/>
        </p:nvSpPr>
        <p:spPr>
          <a:xfrm>
            <a:off x="5047488" y="3877056"/>
            <a:ext cx="297180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Mid-career, 31 and over</a:t>
            </a:r>
            <a:endParaRPr lang="en-US" sz="1700" dirty="0"/>
          </a:p>
        </p:txBody>
      </p:sp>
      <p:sp>
        <p:nvSpPr>
          <p:cNvPr id="26" name="Text 24"/>
          <p:cNvSpPr txBox="1"/>
          <p:nvPr/>
        </p:nvSpPr>
        <p:spPr>
          <a:xfrm>
            <a:off x="4572000" y="4453128"/>
            <a:ext cx="3383280" cy="1508760"/>
          </a:xfrm>
          <a:prstGeom prst="rect">
            <a:avLst/>
          </a:prstGeom>
          <a:noFill/>
          <a:ln/>
        </p:spPr>
        <p:txBody>
          <a:bodyPr wrap="square" lIns="0" tIns="0" rIns="0" bIns="0" rtlCol="0" anchor="t"/>
          <a:lstStyle/>
          <a:p>
            <a:pPr indent="0" marL="0">
              <a:buNone/>
            </a:pPr>
            <a:r>
              <a:rPr lang="en-US" sz="1600" dirty="0">
                <a:solidFill>
                  <a:srgbClr val="DAD5FF"/>
                </a:solidFill>
                <a:latin typeface="Calibri" pitchFamily="34" charset="0"/>
                <a:ea typeface="Calibri" pitchFamily="34" charset="-122"/>
                <a:cs typeface="Calibri" pitchFamily="34" charset="-120"/>
              </a:rPr>
              <a:t>Goal-led salaried, professionals
</a:t>
            </a:r>
            <a:pPr indent="0" marL="0">
              <a:buNone/>
            </a:pPr>
            <a:r>
              <a:rPr lang="en-US" sz="1600" b="1" dirty="0">
                <a:solidFill>
                  <a:srgbClr val="FFFFFF"/>
                </a:solidFill>
                <a:latin typeface="Calibri" pitchFamily="34" charset="0"/>
                <a:ea typeface="Calibri" pitchFamily="34" charset="-122"/>
                <a:cs typeface="Calibri" pitchFamily="34" charset="-120"/>
              </a:rPr>
              <a:t>19% of age-stating posts
</a:t>
            </a:r>
            <a:pPr indent="0" marL="0">
              <a:buNone/>
            </a:pPr>
            <a:r>
              <a:rPr lang="en-US" sz="1600" b="1" dirty="0">
                <a:solidFill>
                  <a:srgbClr val="FFFFFF"/>
                </a:solidFill>
                <a:latin typeface="Calibri" pitchFamily="34" charset="0"/>
                <a:ea typeface="Calibri" pitchFamily="34" charset="-122"/>
                <a:cs typeface="Calibri" pitchFamily="34" charset="-120"/>
              </a:rPr>
              <a:t>6% show a drop-off signal
</a:t>
            </a:r>
            <a:pPr indent="0" marL="0">
              <a:buNone/>
            </a:pPr>
            <a:r>
              <a:rPr lang="en-US" sz="1600" dirty="0">
                <a:solidFill>
                  <a:srgbClr val="DAD5FF"/>
                </a:solidFill>
                <a:latin typeface="Calibri" pitchFamily="34" charset="0"/>
                <a:ea typeface="Calibri" pitchFamily="34" charset="-122"/>
                <a:cs typeface="Calibri" pitchFamily="34" charset="-120"/>
              </a:rPr>
              <a:t>Needs: trusted human help</a:t>
            </a:r>
            <a:endParaRPr lang="en-US" sz="1600" dirty="0"/>
          </a:p>
        </p:txBody>
      </p:sp>
      <p:sp>
        <p:nvSpPr>
          <p:cNvPr id="27" name="age-panel"/>
          <p:cNvSpPr/>
          <p:nvPr/>
        </p:nvSpPr>
        <p:spPr>
          <a:xfrm>
            <a:off x="8412480" y="1371600"/>
            <a:ext cx="3319272" cy="4663440"/>
          </a:xfrm>
          <a:prstGeom prst="roundRect">
            <a:avLst>
              <a:gd name="adj" fmla="val 4959"/>
            </a:avLst>
          </a:prstGeom>
          <a:solidFill>
            <a:srgbClr val="251D70"/>
          </a:solidFill>
          <a:ln w="6350">
            <a:solidFill>
              <a:srgbClr val="251D70"/>
            </a:solidFill>
            <a:prstDash val="solid"/>
          </a:ln>
        </p:spPr>
      </p:sp>
      <p:sp>
        <p:nvSpPr>
          <p:cNvPr id="28" name="Text 26"/>
          <p:cNvSpPr txBox="1"/>
          <p:nvPr/>
        </p:nvSpPr>
        <p:spPr>
          <a:xfrm>
            <a:off x="8549640" y="1444752"/>
            <a:ext cx="3063240" cy="640080"/>
          </a:xfrm>
          <a:prstGeom prst="rect">
            <a:avLst/>
          </a:prstGeom>
          <a:noFill/>
          <a:ln/>
        </p:spPr>
        <p:txBody>
          <a:bodyPr wrap="square" lIns="0" tIns="0" rIns="0" bIns="0" rtlCol="0" anchor="t"/>
          <a:lstStyle/>
          <a:p>
            <a:pPr indent="0" marL="0">
              <a:buNone/>
            </a:pPr>
            <a:r>
              <a:rPr lang="en-US" sz="1500" b="1" dirty="0">
                <a:solidFill>
                  <a:srgbClr val="F0E442"/>
                </a:solidFill>
                <a:latin typeface="Calibri" pitchFamily="34" charset="0"/>
                <a:ea typeface="Calibri" pitchFamily="34" charset="-122"/>
                <a:cs typeface="Calibri" pitchFamily="34" charset="-120"/>
              </a:rPr>
              <a:t>Who states which age (share of 1,130 posts)</a:t>
            </a:r>
            <a:endParaRPr lang="en-US" sz="1500" dirty="0"/>
          </a:p>
        </p:txBody>
      </p:sp>
      <p:graphicFrame>
        <p:nvGraphicFramePr>
          <p:cNvPr id="29" name="Chart 0" descr=""/>
          <p:cNvGraphicFramePr/>
          <p:nvPr/>
        </p:nvGraphicFramePr>
        <p:xfrm>
          <a:off x="8503920" y="2057400"/>
          <a:ext cx="3154680" cy="2514600"/>
        </p:xfrm>
        <a:graphic xmlns:a="http://schemas.openxmlformats.org/drawingml/2006/main">
          <a:graphicData uri="http://schemas.openxmlformats.org/drawingml/2006/chart">
            <c:chart xmlns:c="http://schemas.openxmlformats.org/drawingml/2006/chart" r:id="rId1"/>
          </a:graphicData>
        </a:graphic>
      </p:graphicFrame>
      <p:sp>
        <p:nvSpPr>
          <p:cNvPr id="30" name="Text 27"/>
          <p:cNvSpPr txBox="1"/>
          <p:nvPr/>
        </p:nvSpPr>
        <p:spPr>
          <a:xfrm>
            <a:off x="8549640" y="4617720"/>
            <a:ext cx="3063240" cy="1371600"/>
          </a:xfrm>
          <a:prstGeom prst="rect">
            <a:avLst/>
          </a:prstGeom>
          <a:noFill/>
          <a:ln/>
        </p:spPr>
        <p:txBody>
          <a:bodyPr wrap="square" lIns="0" tIns="0" rIns="0" bIns="0" rtlCol="0" anchor="t"/>
          <a:lstStyle/>
          <a:p>
            <a:pPr indent="0" marL="0">
              <a:buNone/>
            </a:pPr>
            <a:r>
              <a:rPr lang="en-US" sz="1800" b="1" dirty="0">
                <a:solidFill>
                  <a:srgbClr val="FFB000"/>
                </a:solidFill>
                <a:latin typeface="Calibri" pitchFamily="34" charset="0"/>
                <a:ea typeface="Calibri" pitchFamily="34" charset="-122"/>
                <a:cs typeface="Calibri" pitchFamily="34" charset="-120"/>
              </a:rPr>
              <a:t>63%</a:t>
            </a:r>
            <a:pPr indent="0" marL="0">
              <a:buNone/>
            </a:pPr>
            <a:r>
              <a:rPr lang="en-US" sz="1400" dirty="0">
                <a:solidFill>
                  <a:srgbClr val="FFFFFF"/>
                </a:solidFill>
                <a:latin typeface="Calibri" pitchFamily="34" charset="0"/>
                <a:ea typeface="Calibri" pitchFamily="34" charset="-122"/>
                <a:cs typeface="Calibri" pitchFamily="34" charset="-120"/>
              </a:rPr>
              <a:t> of first-year investors who state age are 22 to 30. </a:t>
            </a:r>
            <a:pPr indent="0" marL="0">
              <a:buNone/>
            </a:pPr>
            <a:r>
              <a:rPr lang="en-US" sz="1800" b="1" dirty="0">
                <a:solidFill>
                  <a:srgbClr val="FFB000"/>
                </a:solidFill>
                <a:latin typeface="Calibri" pitchFamily="34" charset="0"/>
                <a:ea typeface="Calibri" pitchFamily="34" charset="-122"/>
                <a:cs typeface="Calibri" pitchFamily="34" charset="-120"/>
              </a:rPr>
              <a:t>45%</a:t>
            </a:r>
            <a:pPr indent="0" marL="0">
              <a:buNone/>
            </a:pPr>
            <a:r>
              <a:rPr lang="en-US" sz="1400" dirty="0">
                <a:solidFill>
                  <a:srgbClr val="FFFFFF"/>
                </a:solidFill>
                <a:latin typeface="Calibri" pitchFamily="34" charset="0"/>
                <a:ea typeface="Calibri" pitchFamily="34" charset="-122"/>
                <a:cs typeface="Calibri" pitchFamily="34" charset="-120"/>
              </a:rPr>
              <a:t> of Groww active users are under 30; median first-time investor age is about 25 to 26.</a:t>
            </a:r>
            <a:endParaRPr lang="en-US" sz="1400" dirty="0"/>
          </a:p>
        </p:txBody>
      </p:sp>
      <p:sp>
        <p:nvSpPr>
          <p:cNvPr id="31" name="Text 28"/>
          <p:cNvSpPr txBox="1"/>
          <p:nvPr/>
        </p:nvSpPr>
        <p:spPr>
          <a:xfrm>
            <a:off x="457200" y="6199632"/>
            <a:ext cx="7863840" cy="45720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Segments built from what 4,952 SIP posts say about the writer; drop-off signal = paused, reduced, stopped, considering stopping or failed instalment.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Three hypotheses on why early-career salaried investors wobble in their first 12 months</a:t>
            </a:r>
            <a:endParaRPr lang="en-US" sz="2700" dirty="0"/>
          </a:p>
        </p:txBody>
      </p:sp>
      <p:sp>
        <p:nvSpPr>
          <p:cNvPr id="5" name="hyp-1"/>
          <p:cNvSpPr/>
          <p:nvPr/>
        </p:nvSpPr>
        <p:spPr>
          <a:xfrm>
            <a:off x="457200" y="1371600"/>
            <a:ext cx="3639312" cy="4572000"/>
          </a:xfrm>
          <a:prstGeom prst="roundRect">
            <a:avLst>
              <a:gd name="adj" fmla="val 4523"/>
            </a:avLst>
          </a:prstGeom>
          <a:solidFill>
            <a:srgbClr val="251D70"/>
          </a:solidFill>
          <a:ln w="25400">
            <a:solidFill>
              <a:srgbClr val="56B4E9"/>
            </a:solidFill>
            <a:prstDash val="solid"/>
          </a:ln>
        </p:spPr>
      </p:sp>
      <p:sp>
        <p:nvSpPr>
          <p:cNvPr id="6" name="badge-1"/>
          <p:cNvSpPr/>
          <p:nvPr/>
        </p:nvSpPr>
        <p:spPr>
          <a:xfrm>
            <a:off x="594360" y="1508760"/>
            <a:ext cx="457200" cy="457200"/>
          </a:xfrm>
          <a:prstGeom prst="ellipse">
            <a:avLst/>
          </a:prstGeom>
          <a:solidFill>
            <a:srgbClr val="56B4E9"/>
          </a:solidFill>
          <a:ln w="12700">
            <a:solidFill>
              <a:srgbClr val="56B4E9"/>
            </a:solidFill>
            <a:prstDash val="solid"/>
          </a:ln>
        </p:spPr>
      </p:sp>
      <p:sp>
        <p:nvSpPr>
          <p:cNvPr id="7" name="Text 5"/>
          <p:cNvSpPr txBox="1"/>
          <p:nvPr/>
        </p:nvSpPr>
        <p:spPr>
          <a:xfrm>
            <a:off x="594360" y="1508760"/>
            <a:ext cx="457200" cy="457200"/>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170432" y="1463040"/>
            <a:ext cx="2816352" cy="594360"/>
          </a:xfrm>
          <a:prstGeom prst="rect">
            <a:avLst/>
          </a:prstGeom>
          <a:noFill/>
          <a:ln/>
        </p:spPr>
        <p:txBody>
          <a:bodyPr wrap="square" lIns="0" tIns="0" rIns="0" bIns="0" rtlCol="0" anchor="ctr"/>
          <a:lstStyle/>
          <a:p>
            <a:pPr indent="0" marL="0">
              <a:buNone/>
            </a:pPr>
            <a:r>
              <a:rPr lang="en-US" sz="1650" b="1" dirty="0">
                <a:solidFill>
                  <a:srgbClr val="56B4E9"/>
                </a:solidFill>
                <a:latin typeface="Calibri" pitchFamily="34" charset="0"/>
                <a:ea typeface="Calibri" pitchFamily="34" charset="-122"/>
                <a:cs typeface="Calibri" pitchFamily="34" charset="-120"/>
              </a:rPr>
              <a:t>The expectation gap</a:t>
            </a:r>
            <a:endParaRPr lang="en-US" sz="1650" dirty="0"/>
          </a:p>
        </p:txBody>
      </p:sp>
      <p:sp>
        <p:nvSpPr>
          <p:cNvPr id="9" name="Text 7"/>
          <p:cNvSpPr txBox="1"/>
          <p:nvPr/>
        </p:nvSpPr>
        <p:spPr>
          <a:xfrm>
            <a:off x="640080" y="2148840"/>
            <a:ext cx="3273552" cy="114300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They start for long-term wealth and expect steady growth. The first statement shows a small or negative number they cannot interpret, and doubt begins.</a:t>
            </a:r>
            <a:endParaRPr lang="en-US" sz="1450" dirty="0"/>
          </a:p>
        </p:txBody>
      </p:sp>
      <p:sp>
        <p:nvSpPr>
          <p:cNvPr id="10" name="Text 8"/>
          <p:cNvSpPr txBox="1"/>
          <p:nvPr/>
        </p:nvSpPr>
        <p:spPr>
          <a:xfrm>
            <a:off x="640080" y="3337560"/>
            <a:ext cx="3273552" cy="1965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43% started for long-term wealth; 74% expect steady growth</a:t>
            </a:r>
            <a:endParaRPr lang="en-US" sz="1400" dirty="0"/>
          </a:p>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They look first at returns % and current value (62% of mentions); drop-offs sound confused or anxious 62% vs 27% of continuers</a:t>
            </a:r>
            <a:endParaRPr lang="en-US" sz="1400" dirty="0"/>
          </a:p>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Reassurance, expectation-setting and plain language: 48% of first-year needs</a:t>
            </a:r>
            <a:endParaRPr lang="en-US" sz="1400" dirty="0"/>
          </a:p>
        </p:txBody>
      </p:sp>
      <p:sp>
        <p:nvSpPr>
          <p:cNvPr id="11" name="Text 9"/>
          <p:cNvSpPr txBox="1"/>
          <p:nvPr/>
        </p:nvSpPr>
        <p:spPr>
          <a:xfrm>
            <a:off x="640080" y="5376672"/>
            <a:ext cx="3273552" cy="530352"/>
          </a:xfrm>
          <a:prstGeom prst="rect">
            <a:avLst/>
          </a:prstGeom>
          <a:noFill/>
          <a:ln/>
        </p:spPr>
        <p:txBody>
          <a:bodyPr wrap="square" lIns="0" tIns="0" rIns="0" bIns="0" rtlCol="0" anchor="ctr"/>
          <a:lstStyle/>
          <a:p>
            <a:pPr indent="0" marL="0">
              <a:buNone/>
            </a:pPr>
            <a:r>
              <a:rPr lang="en-US" sz="1400" b="1" dirty="0">
                <a:solidFill>
                  <a:srgbClr val="F0E442"/>
                </a:solidFill>
                <a:latin typeface="Calibri" pitchFamily="34" charset="0"/>
                <a:ea typeface="Calibri" pitchFamily="34" charset="-122"/>
                <a:cs typeface="Calibri" pitchFamily="34" charset="-120"/>
              </a:rPr>
              <a:t>Interview: what did you expect at month 3, and what did you see?</a:t>
            </a:r>
            <a:endParaRPr lang="en-US" sz="1400" dirty="0"/>
          </a:p>
        </p:txBody>
      </p:sp>
      <p:sp>
        <p:nvSpPr>
          <p:cNvPr id="12" name="hyp-2"/>
          <p:cNvSpPr/>
          <p:nvPr/>
        </p:nvSpPr>
        <p:spPr>
          <a:xfrm>
            <a:off x="4279392" y="1371600"/>
            <a:ext cx="3639312" cy="4572000"/>
          </a:xfrm>
          <a:prstGeom prst="roundRect">
            <a:avLst>
              <a:gd name="adj" fmla="val 4523"/>
            </a:avLst>
          </a:prstGeom>
          <a:solidFill>
            <a:srgbClr val="251D70"/>
          </a:solidFill>
          <a:ln w="25400">
            <a:solidFill>
              <a:srgbClr val="FFB000"/>
            </a:solidFill>
            <a:prstDash val="solid"/>
          </a:ln>
        </p:spPr>
      </p:sp>
      <p:sp>
        <p:nvSpPr>
          <p:cNvPr id="13" name="badge-2"/>
          <p:cNvSpPr/>
          <p:nvPr/>
        </p:nvSpPr>
        <p:spPr>
          <a:xfrm>
            <a:off x="4416552" y="1508760"/>
            <a:ext cx="457200" cy="457200"/>
          </a:xfrm>
          <a:prstGeom prst="ellipse">
            <a:avLst/>
          </a:prstGeom>
          <a:solidFill>
            <a:srgbClr val="FFB000"/>
          </a:solidFill>
          <a:ln w="12700">
            <a:solidFill>
              <a:srgbClr val="FFB000"/>
            </a:solidFill>
            <a:prstDash val="solid"/>
          </a:ln>
        </p:spPr>
      </p:sp>
      <p:sp>
        <p:nvSpPr>
          <p:cNvPr id="14" name="Text 12"/>
          <p:cNvSpPr txBox="1"/>
          <p:nvPr/>
        </p:nvSpPr>
        <p:spPr>
          <a:xfrm>
            <a:off x="4416552" y="1508760"/>
            <a:ext cx="457200" cy="457200"/>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2</a:t>
            </a:r>
            <a:endParaRPr lang="en-US" sz="1800" dirty="0"/>
          </a:p>
        </p:txBody>
      </p:sp>
      <p:sp>
        <p:nvSpPr>
          <p:cNvPr id="15" name="Text 13"/>
          <p:cNvSpPr txBox="1"/>
          <p:nvPr/>
        </p:nvSpPr>
        <p:spPr>
          <a:xfrm>
            <a:off x="4992624" y="1463040"/>
            <a:ext cx="2816352" cy="594360"/>
          </a:xfrm>
          <a:prstGeom prst="rect">
            <a:avLst/>
          </a:prstGeom>
          <a:noFill/>
          <a:ln/>
        </p:spPr>
        <p:txBody>
          <a:bodyPr wrap="square" lIns="0" tIns="0" rIns="0" bIns="0" rtlCol="0" anchor="ctr"/>
          <a:lstStyle/>
          <a:p>
            <a:pPr indent="0" marL="0">
              <a:buNone/>
            </a:pPr>
            <a:r>
              <a:rPr lang="en-US" sz="1650" b="1" dirty="0">
                <a:solidFill>
                  <a:srgbClr val="FFB000"/>
                </a:solidFill>
                <a:latin typeface="Calibri" pitchFamily="34" charset="0"/>
                <a:ea typeface="Calibri" pitchFamily="34" charset="-122"/>
                <a:cs typeface="Calibri" pitchFamily="34" charset="-120"/>
              </a:rPr>
              <a:t>The cash squeeze with no middle path</a:t>
            </a:r>
            <a:endParaRPr lang="en-US" sz="1650" dirty="0"/>
          </a:p>
        </p:txBody>
      </p:sp>
      <p:sp>
        <p:nvSpPr>
          <p:cNvPr id="16" name="Text 14"/>
          <p:cNvSpPr txBox="1"/>
          <p:nvPr/>
        </p:nvSpPr>
        <p:spPr>
          <a:xfrm>
            <a:off x="4462272" y="2148840"/>
            <a:ext cx="3273552" cy="114300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In a tight month the visible choices are keep paying or cancel. Skipping is limited, so people stop or miss an instalment.</a:t>
            </a:r>
            <a:endParaRPr lang="en-US" sz="1450" dirty="0"/>
          </a:p>
        </p:txBody>
      </p:sp>
      <p:sp>
        <p:nvSpPr>
          <p:cNvPr id="17" name="Text 15"/>
          <p:cNvSpPr txBox="1"/>
          <p:nvPr/>
        </p:nvSpPr>
        <p:spPr>
          <a:xfrm>
            <a:off x="4462272" y="3337560"/>
            <a:ext cx="3273552" cy="1965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Salaried drop-off signal is 12%, double the 6% of students and 31+; cash-flow pressure leads (32 of 78)</a:t>
            </a:r>
            <a:endParaRPr lang="en-US" sz="1400" dirty="0"/>
          </a:p>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22% of drop-off signals ask for a way to pause or reduce</a:t>
            </a:r>
            <a:endParaRPr lang="en-US" sz="1400" dirty="0"/>
          </a:p>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Survey: 3 of 18 missed an instalment, all on Groww; 'needed money' cited 4 times</a:t>
            </a:r>
            <a:endParaRPr lang="en-US" sz="1400" dirty="0"/>
          </a:p>
        </p:txBody>
      </p:sp>
      <p:sp>
        <p:nvSpPr>
          <p:cNvPr id="18" name="Text 16"/>
          <p:cNvSpPr txBox="1"/>
          <p:nvPr/>
        </p:nvSpPr>
        <p:spPr>
          <a:xfrm>
            <a:off x="4462272" y="5376672"/>
            <a:ext cx="3273552" cy="530352"/>
          </a:xfrm>
          <a:prstGeom prst="rect">
            <a:avLst/>
          </a:prstGeom>
          <a:noFill/>
          <a:ln/>
        </p:spPr>
        <p:txBody>
          <a:bodyPr wrap="square" lIns="0" tIns="0" rIns="0" bIns="0" rtlCol="0" anchor="ctr"/>
          <a:lstStyle/>
          <a:p>
            <a:pPr indent="0" marL="0">
              <a:buNone/>
            </a:pPr>
            <a:r>
              <a:rPr lang="en-US" sz="1400" b="1" dirty="0">
                <a:solidFill>
                  <a:srgbClr val="F0E442"/>
                </a:solidFill>
                <a:latin typeface="Calibri" pitchFamily="34" charset="0"/>
                <a:ea typeface="Calibri" pitchFamily="34" charset="-122"/>
                <a:cs typeface="Calibri" pitchFamily="34" charset="-120"/>
              </a:rPr>
              <a:t>Interview: did you know you could pause, skip or reduce? What happened?</a:t>
            </a:r>
            <a:endParaRPr lang="en-US" sz="1400" dirty="0"/>
          </a:p>
        </p:txBody>
      </p:sp>
      <p:sp>
        <p:nvSpPr>
          <p:cNvPr id="19" name="hyp-3"/>
          <p:cNvSpPr/>
          <p:nvPr/>
        </p:nvSpPr>
        <p:spPr>
          <a:xfrm>
            <a:off x="8101584" y="1371600"/>
            <a:ext cx="3639312" cy="4572000"/>
          </a:xfrm>
          <a:prstGeom prst="roundRect">
            <a:avLst>
              <a:gd name="adj" fmla="val 4523"/>
            </a:avLst>
          </a:prstGeom>
          <a:solidFill>
            <a:srgbClr val="251D70"/>
          </a:solidFill>
          <a:ln w="25400">
            <a:solidFill>
              <a:srgbClr val="F08DC0"/>
            </a:solidFill>
            <a:prstDash val="solid"/>
          </a:ln>
        </p:spPr>
      </p:sp>
      <p:sp>
        <p:nvSpPr>
          <p:cNvPr id="20" name="badge-3"/>
          <p:cNvSpPr/>
          <p:nvPr/>
        </p:nvSpPr>
        <p:spPr>
          <a:xfrm>
            <a:off x="8238744" y="1508760"/>
            <a:ext cx="457200" cy="457200"/>
          </a:xfrm>
          <a:prstGeom prst="ellipse">
            <a:avLst/>
          </a:prstGeom>
          <a:solidFill>
            <a:srgbClr val="F08DC0"/>
          </a:solidFill>
          <a:ln w="12700">
            <a:solidFill>
              <a:srgbClr val="F08DC0"/>
            </a:solidFill>
            <a:prstDash val="solid"/>
          </a:ln>
        </p:spPr>
      </p:sp>
      <p:sp>
        <p:nvSpPr>
          <p:cNvPr id="21" name="Text 19"/>
          <p:cNvSpPr txBox="1"/>
          <p:nvPr/>
        </p:nvSpPr>
        <p:spPr>
          <a:xfrm>
            <a:off x="8238744" y="1508760"/>
            <a:ext cx="457200" cy="457200"/>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3</a:t>
            </a:r>
            <a:endParaRPr lang="en-US" sz="1800" dirty="0"/>
          </a:p>
        </p:txBody>
      </p:sp>
      <p:sp>
        <p:nvSpPr>
          <p:cNvPr id="22" name="Text 20"/>
          <p:cNvSpPr txBox="1"/>
          <p:nvPr/>
        </p:nvSpPr>
        <p:spPr>
          <a:xfrm>
            <a:off x="8814816" y="1463040"/>
            <a:ext cx="2816352" cy="594360"/>
          </a:xfrm>
          <a:prstGeom prst="rect">
            <a:avLst/>
          </a:prstGeom>
          <a:noFill/>
          <a:ln/>
        </p:spPr>
        <p:txBody>
          <a:bodyPr wrap="square" lIns="0" tIns="0" rIns="0" bIns="0" rtlCol="0" anchor="ctr"/>
          <a:lstStyle/>
          <a:p>
            <a:pPr indent="0" marL="0">
              <a:buNone/>
            </a:pPr>
            <a:r>
              <a:rPr lang="en-US" sz="1650" b="1" dirty="0">
                <a:solidFill>
                  <a:srgbClr val="F08DC0"/>
                </a:solidFill>
                <a:latin typeface="Calibri" pitchFamily="34" charset="0"/>
                <a:ea typeface="Calibri" pitchFamily="34" charset="-122"/>
                <a:cs typeface="Calibri" pitchFamily="34" charset="-120"/>
              </a:rPr>
              <a:t>The silent wobble: nobody to ask in the app</a:t>
            </a:r>
            <a:endParaRPr lang="en-US" sz="1650" dirty="0"/>
          </a:p>
        </p:txBody>
      </p:sp>
      <p:sp>
        <p:nvSpPr>
          <p:cNvPr id="23" name="Text 21"/>
          <p:cNvSpPr txBox="1"/>
          <p:nvPr/>
        </p:nvSpPr>
        <p:spPr>
          <a:xfrm>
            <a:off x="8284464" y="2148840"/>
            <a:ext cx="3273552" cy="1143000"/>
          </a:xfrm>
          <a:prstGeom prst="rect">
            <a:avLst/>
          </a:prstGeom>
          <a:noFill/>
          <a:ln/>
        </p:spPr>
        <p:txBody>
          <a:bodyPr wrap="square" lIns="0" tIns="0" rIns="0" bIns="0" rtlCol="0" anchor="t"/>
          <a:lstStyle/>
          <a:p>
            <a:pPr indent="0" marL="0">
              <a:buNone/>
            </a:pPr>
            <a:r>
              <a:rPr lang="en-US" sz="1450" b="1" dirty="0">
                <a:solidFill>
                  <a:srgbClr val="FFFFFF"/>
                </a:solidFill>
                <a:latin typeface="Calibri" pitchFamily="34" charset="0"/>
                <a:ea typeface="Calibri" pitchFamily="34" charset="-122"/>
                <a:cs typeface="Calibri" pitchFamily="34" charset="-120"/>
              </a:rPr>
              <a:t>When unsure, they ask YouTube, Reddit or friends, or do nothing and drift. Doubt goes unanswered inside the app.</a:t>
            </a:r>
            <a:endParaRPr lang="en-US" sz="1450" dirty="0"/>
          </a:p>
        </p:txBody>
      </p:sp>
      <p:sp>
        <p:nvSpPr>
          <p:cNvPr id="24" name="Text 22"/>
          <p:cNvSpPr txBox="1"/>
          <p:nvPr/>
        </p:nvSpPr>
        <p:spPr>
          <a:xfrm>
            <a:off x="8284464" y="3337560"/>
            <a:ext cx="3273552" cy="1965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Outside the app: YouTube 38%, Reddit 32%, Google 12%</a:t>
            </a:r>
            <a:endParaRPr lang="en-US" sz="1400" dirty="0"/>
          </a:p>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Survey: 9 of 18 did nothing after thinking of stopping; 4 asked a friend, 3 followed influencers</a:t>
            </a:r>
            <a:endParaRPr lang="en-US" sz="1400" dirty="0"/>
          </a:p>
          <a:p>
            <a:pPr marL="342900" indent="-342900">
              <a:spcAft>
                <a:spcPts val="400"/>
              </a:spcAft>
              <a:buSzPct val="100000"/>
              <a:buChar char="•"/>
            </a:pPr>
            <a:r>
              <a:rPr lang="en-US" sz="1400" dirty="0">
                <a:solidFill>
                  <a:srgbClr val="DAD5FF"/>
                </a:solidFill>
                <a:latin typeface="Calibri" pitchFamily="34" charset="0"/>
                <a:ea typeface="Calibri" pitchFamily="34" charset="-122"/>
                <a:cs typeface="Calibri" pitchFamily="34" charset="-120"/>
              </a:rPr>
              <a:t>Continuing needs a plain answer to 'is this normal?' and a reversible option</a:t>
            </a:r>
            <a:endParaRPr lang="en-US" sz="1400" dirty="0"/>
          </a:p>
        </p:txBody>
      </p:sp>
      <p:sp>
        <p:nvSpPr>
          <p:cNvPr id="25" name="Text 23"/>
          <p:cNvSpPr txBox="1"/>
          <p:nvPr/>
        </p:nvSpPr>
        <p:spPr>
          <a:xfrm>
            <a:off x="8284464" y="5376672"/>
            <a:ext cx="3273552" cy="530352"/>
          </a:xfrm>
          <a:prstGeom prst="rect">
            <a:avLst/>
          </a:prstGeom>
          <a:noFill/>
          <a:ln/>
        </p:spPr>
        <p:txBody>
          <a:bodyPr wrap="square" lIns="0" tIns="0" rIns="0" bIns="0" rtlCol="0" anchor="ctr"/>
          <a:lstStyle/>
          <a:p>
            <a:pPr indent="0" marL="0">
              <a:buNone/>
            </a:pPr>
            <a:r>
              <a:rPr lang="en-US" sz="1400" b="1" dirty="0">
                <a:solidFill>
                  <a:srgbClr val="F0E442"/>
                </a:solidFill>
                <a:latin typeface="Calibri" pitchFamily="34" charset="0"/>
                <a:ea typeface="Calibri" pitchFamily="34" charset="-122"/>
                <a:cs typeface="Calibri" pitchFamily="34" charset="-120"/>
              </a:rPr>
              <a:t>Interview: who did you ask, what did they say, what stayed unclear?</a:t>
            </a:r>
            <a:endParaRPr lang="en-US" sz="1400" dirty="0"/>
          </a:p>
        </p:txBody>
      </p:sp>
      <p:sp>
        <p:nvSpPr>
          <p:cNvPr id="26" name="Text 24"/>
          <p:cNvSpPr txBox="1"/>
          <p:nvPr/>
        </p:nvSpPr>
        <p:spPr>
          <a:xfrm>
            <a:off x="457200" y="6053328"/>
            <a:ext cx="11247120" cy="64008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Covers: why they started  |  what the experience has been  |  pause, reduce or stop triggers  |  what they check  |  what they do outside the app  |  what keeps them going. Interviews (5 to 6) will confirm or kill each one.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Pain points: investors cannot tell if what they see is normal, and the app gives no middle path</a:t>
            </a:r>
            <a:endParaRPr lang="en-US" sz="2700" dirty="0"/>
          </a:p>
        </p:txBody>
      </p:sp>
      <p:sp>
        <p:nvSpPr>
          <p:cNvPr id="5" name="survey-panel"/>
          <p:cNvSpPr/>
          <p:nvPr/>
        </p:nvSpPr>
        <p:spPr>
          <a:xfrm>
            <a:off x="457200" y="1371600"/>
            <a:ext cx="4846320" cy="4617720"/>
          </a:xfrm>
          <a:prstGeom prst="roundRect">
            <a:avLst>
              <a:gd name="adj" fmla="val 3564"/>
            </a:avLst>
          </a:prstGeom>
          <a:solidFill>
            <a:srgbClr val="251D70"/>
          </a:solidFill>
          <a:ln w="6350">
            <a:solidFill>
              <a:srgbClr val="251D70"/>
            </a:solidFill>
            <a:prstDash val="solid"/>
          </a:ln>
        </p:spPr>
      </p:sp>
      <p:sp>
        <p:nvSpPr>
          <p:cNvPr id="6" name="badge-1"/>
          <p:cNvSpPr/>
          <p:nvPr/>
        </p:nvSpPr>
        <p:spPr>
          <a:xfrm>
            <a:off x="594360" y="1481328"/>
            <a:ext cx="420624" cy="420624"/>
          </a:xfrm>
          <a:prstGeom prst="ellipse">
            <a:avLst/>
          </a:prstGeom>
          <a:solidFill>
            <a:srgbClr val="56B4E9"/>
          </a:solidFill>
          <a:ln w="12700">
            <a:solidFill>
              <a:srgbClr val="56B4E9"/>
            </a:solidFill>
            <a:prstDash val="solid"/>
          </a:ln>
        </p:spPr>
      </p:sp>
      <p:sp>
        <p:nvSpPr>
          <p:cNvPr id="7" name="Text 5"/>
          <p:cNvSpPr txBox="1"/>
          <p:nvPr/>
        </p:nvSpPr>
        <p:spPr>
          <a:xfrm>
            <a:off x="594360" y="1481328"/>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170432" y="1481328"/>
            <a:ext cx="3931920" cy="420624"/>
          </a:xfrm>
          <a:prstGeom prst="rect">
            <a:avLst/>
          </a:prstGeom>
          <a:noFill/>
          <a:ln/>
        </p:spPr>
        <p:txBody>
          <a:bodyPr wrap="square" lIns="0" tIns="0" rIns="0" bIns="0" rtlCol="0" anchor="ctr"/>
          <a:lstStyle/>
          <a:p>
            <a:pPr indent="0" marL="0">
              <a:buNone/>
            </a:pPr>
            <a:r>
              <a:rPr lang="en-US" sz="1700" b="1" dirty="0">
                <a:solidFill>
                  <a:srgbClr val="56B4E9"/>
                </a:solidFill>
                <a:latin typeface="Calibri" pitchFamily="34" charset="0"/>
                <a:ea typeface="Calibri" pitchFamily="34" charset="-122"/>
                <a:cs typeface="Calibri" pitchFamily="34" charset="-120"/>
              </a:rPr>
              <a:t>Survey snapshot (n=18)</a:t>
            </a:r>
            <a:endParaRPr lang="en-US" sz="1700" dirty="0"/>
          </a:p>
        </p:txBody>
      </p:sp>
      <p:sp>
        <p:nvSpPr>
          <p:cNvPr id="9" name="Text 7"/>
          <p:cNvSpPr txBox="1"/>
          <p:nvPr/>
        </p:nvSpPr>
        <p:spPr>
          <a:xfrm>
            <a:off x="640080" y="2057400"/>
            <a:ext cx="1463040" cy="960120"/>
          </a:xfrm>
          <a:prstGeom prst="rect">
            <a:avLst/>
          </a:prstGeom>
          <a:noFill/>
          <a:ln/>
        </p:spPr>
        <p:txBody>
          <a:bodyPr wrap="square" lIns="0" tIns="0" rIns="0" bIns="0" rtlCol="0" anchor="t"/>
          <a:lstStyle/>
          <a:p>
            <a:pPr algn="l" indent="0" marL="0">
              <a:buNone/>
            </a:pPr>
            <a:r>
              <a:rPr lang="en-US" sz="2200" b="1" dirty="0">
                <a:solidFill>
                  <a:srgbClr val="56B4E9"/>
                </a:solidFill>
                <a:latin typeface="Calibri" pitchFamily="34" charset="0"/>
                <a:ea typeface="Calibri" pitchFamily="34" charset="-122"/>
                <a:cs typeface="Calibri" pitchFamily="34" charset="-120"/>
              </a:rPr>
              <a:t>9 of 18</a:t>
            </a:r>
            <a:pPr algn="l" indent="0" marL="0">
              <a:buNone/>
            </a:pPr>
            <a:endParaRPr lang="en-US" sz="1400" dirty="0"/>
          </a:p>
          <a:p>
            <a:pPr algn="l" indent="0" marL="0">
              <a:buNone/>
            </a:pPr>
            <a:r>
              <a:rPr lang="en-US" sz="1400" dirty="0">
                <a:solidFill>
                  <a:srgbClr val="DAD5FF"/>
                </a:solidFill>
                <a:latin typeface="Calibri" pitchFamily="34" charset="0"/>
                <a:ea typeface="Calibri" pitchFamily="34" charset="-122"/>
                <a:cs typeface="Calibri" pitchFamily="34" charset="-120"/>
              </a:rPr>
              <a:t>thought of stopping or pausing</a:t>
            </a:r>
            <a:endParaRPr lang="en-US" sz="1400" dirty="0"/>
          </a:p>
        </p:txBody>
      </p:sp>
      <p:sp>
        <p:nvSpPr>
          <p:cNvPr id="10" name="Text 8"/>
          <p:cNvSpPr txBox="1"/>
          <p:nvPr/>
        </p:nvSpPr>
        <p:spPr>
          <a:xfrm>
            <a:off x="2194560" y="2057400"/>
            <a:ext cx="1463040" cy="960120"/>
          </a:xfrm>
          <a:prstGeom prst="rect">
            <a:avLst/>
          </a:prstGeom>
          <a:noFill/>
          <a:ln/>
        </p:spPr>
        <p:txBody>
          <a:bodyPr wrap="square" lIns="0" tIns="0" rIns="0" bIns="0" rtlCol="0" anchor="t"/>
          <a:lstStyle/>
          <a:p>
            <a:pPr algn="l" indent="0" marL="0">
              <a:buNone/>
            </a:pPr>
            <a:r>
              <a:rPr lang="en-US" sz="2200" b="1" dirty="0">
                <a:solidFill>
                  <a:srgbClr val="FFB000"/>
                </a:solidFill>
                <a:latin typeface="Calibri" pitchFamily="34" charset="0"/>
                <a:ea typeface="Calibri" pitchFamily="34" charset="-122"/>
                <a:cs typeface="Calibri" pitchFamily="34" charset="-120"/>
              </a:rPr>
              <a:t>3 of 18</a:t>
            </a:r>
            <a:pPr algn="l" indent="0" marL="0">
              <a:buNone/>
            </a:pPr>
            <a:endParaRPr lang="en-US" sz="1400" dirty="0"/>
          </a:p>
          <a:p>
            <a:pPr algn="l" indent="0" marL="0">
              <a:buNone/>
            </a:pPr>
            <a:r>
              <a:rPr lang="en-US" sz="1400" dirty="0">
                <a:solidFill>
                  <a:srgbClr val="DAD5FF"/>
                </a:solidFill>
                <a:latin typeface="Calibri" pitchFamily="34" charset="0"/>
                <a:ea typeface="Calibri" pitchFamily="34" charset="-122"/>
                <a:cs typeface="Calibri" pitchFamily="34" charset="-120"/>
              </a:rPr>
              <a:t>missed an instalment (all on Groww)</a:t>
            </a:r>
            <a:endParaRPr lang="en-US" sz="1400" dirty="0"/>
          </a:p>
        </p:txBody>
      </p:sp>
      <p:sp>
        <p:nvSpPr>
          <p:cNvPr id="11" name="Text 9"/>
          <p:cNvSpPr txBox="1"/>
          <p:nvPr/>
        </p:nvSpPr>
        <p:spPr>
          <a:xfrm>
            <a:off x="3749040" y="2057400"/>
            <a:ext cx="1463040" cy="960120"/>
          </a:xfrm>
          <a:prstGeom prst="rect">
            <a:avLst/>
          </a:prstGeom>
          <a:noFill/>
          <a:ln/>
        </p:spPr>
        <p:txBody>
          <a:bodyPr wrap="square" lIns="0" tIns="0" rIns="0" bIns="0" rtlCol="0" anchor="t"/>
          <a:lstStyle/>
          <a:p>
            <a:pPr algn="l" indent="0" marL="0">
              <a:buNone/>
            </a:pPr>
            <a:r>
              <a:rPr lang="en-US" sz="2200" b="1" dirty="0">
                <a:solidFill>
                  <a:srgbClr val="F08DC0"/>
                </a:solidFill>
                <a:latin typeface="Calibri" pitchFamily="34" charset="0"/>
                <a:ea typeface="Calibri" pitchFamily="34" charset="-122"/>
                <a:cs typeface="Calibri" pitchFamily="34" charset="-120"/>
              </a:rPr>
              <a:t>9 of 18</a:t>
            </a:r>
            <a:pPr algn="l" indent="0" marL="0">
              <a:buNone/>
            </a:pPr>
            <a:endParaRPr lang="en-US" sz="1400" dirty="0"/>
          </a:p>
          <a:p>
            <a:pPr algn="l" indent="0" marL="0">
              <a:buNone/>
            </a:pPr>
            <a:r>
              <a:rPr lang="en-US" sz="1400" dirty="0">
                <a:solidFill>
                  <a:srgbClr val="DAD5FF"/>
                </a:solidFill>
                <a:latin typeface="Calibri" pitchFamily="34" charset="0"/>
                <a:ea typeface="Calibri" pitchFamily="34" charset="-122"/>
                <a:cs typeface="Calibri" pitchFamily="34" charset="-120"/>
              </a:rPr>
              <a:t>did nothing next</a:t>
            </a:r>
            <a:endParaRPr lang="en-US" sz="1400" dirty="0"/>
          </a:p>
        </p:txBody>
      </p:sp>
      <p:sp>
        <p:nvSpPr>
          <p:cNvPr id="12" name="Text 10"/>
          <p:cNvSpPr txBox="1"/>
          <p:nvPr/>
        </p:nvSpPr>
        <p:spPr>
          <a:xfrm>
            <a:off x="640080" y="3090672"/>
            <a:ext cx="448056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What they did after a moment of doubt (people)</a:t>
            </a:r>
            <a:endParaRPr lang="en-US" sz="1400" dirty="0"/>
          </a:p>
        </p:txBody>
      </p:sp>
      <p:graphicFrame>
        <p:nvGraphicFramePr>
          <p:cNvPr id="13" name="Chart 0" descr=""/>
          <p:cNvGraphicFramePr/>
          <p:nvPr/>
        </p:nvGraphicFramePr>
        <p:xfrm>
          <a:off x="548640" y="3383280"/>
          <a:ext cx="4663440" cy="2560320"/>
        </p:xfrm>
        <a:graphic xmlns:a="http://schemas.openxmlformats.org/drawingml/2006/main">
          <a:graphicData uri="http://schemas.openxmlformats.org/drawingml/2006/chart">
            <c:chart xmlns:c="http://schemas.openxmlformats.org/drawingml/2006/chart" r:id="rId1"/>
          </a:graphicData>
        </a:graphic>
      </p:graphicFrame>
      <p:sp>
        <p:nvSpPr>
          <p:cNvPr id="14" name="pain-panel"/>
          <p:cNvSpPr/>
          <p:nvPr/>
        </p:nvSpPr>
        <p:spPr>
          <a:xfrm>
            <a:off x="5486400" y="1371600"/>
            <a:ext cx="6245352" cy="4617720"/>
          </a:xfrm>
          <a:prstGeom prst="roundRect">
            <a:avLst>
              <a:gd name="adj" fmla="val 3564"/>
            </a:avLst>
          </a:prstGeom>
          <a:solidFill>
            <a:srgbClr val="251D70"/>
          </a:solidFill>
          <a:ln w="6350">
            <a:solidFill>
              <a:srgbClr val="251D70"/>
            </a:solidFill>
            <a:prstDash val="solid"/>
          </a:ln>
        </p:spPr>
      </p:sp>
      <p:sp>
        <p:nvSpPr>
          <p:cNvPr id="15" name="Text 12"/>
          <p:cNvSpPr txBox="1"/>
          <p:nvPr/>
        </p:nvSpPr>
        <p:spPr>
          <a:xfrm>
            <a:off x="5669280" y="1444752"/>
            <a:ext cx="5852160" cy="411480"/>
          </a:xfrm>
          <a:prstGeom prst="rect">
            <a:avLst/>
          </a:prstGeom>
          <a:noFill/>
          <a:ln/>
        </p:spPr>
        <p:txBody>
          <a:bodyPr wrap="square" lIns="0" tIns="0" rIns="0" bIns="0" rtlCol="0" anchor="ctr"/>
          <a:lstStyle/>
          <a:p>
            <a:pPr indent="0" marL="0">
              <a:buNone/>
            </a:pPr>
            <a:r>
              <a:rPr lang="en-US" sz="1700" b="1" dirty="0">
                <a:solidFill>
                  <a:srgbClr val="F0E442"/>
                </a:solidFill>
                <a:latin typeface="Calibri" pitchFamily="34" charset="0"/>
                <a:ea typeface="Calibri" pitchFamily="34" charset="-122"/>
                <a:cs typeface="Calibri" pitchFamily="34" charset="-120"/>
              </a:rPr>
              <a:t>Top five pain points and blockers</a:t>
            </a:r>
            <a:endParaRPr lang="en-US" sz="1700" dirty="0"/>
          </a:p>
        </p:txBody>
      </p:sp>
      <p:sp>
        <p:nvSpPr>
          <p:cNvPr id="16" name="badge-1"/>
          <p:cNvSpPr/>
          <p:nvPr/>
        </p:nvSpPr>
        <p:spPr>
          <a:xfrm>
            <a:off x="5669280" y="1984248"/>
            <a:ext cx="402336" cy="402336"/>
          </a:xfrm>
          <a:prstGeom prst="ellipse">
            <a:avLst/>
          </a:prstGeom>
          <a:solidFill>
            <a:srgbClr val="56B4E9"/>
          </a:solidFill>
          <a:ln w="12700">
            <a:solidFill>
              <a:srgbClr val="56B4E9"/>
            </a:solidFill>
            <a:prstDash val="solid"/>
          </a:ln>
        </p:spPr>
      </p:sp>
      <p:sp>
        <p:nvSpPr>
          <p:cNvPr id="17" name="Text 14"/>
          <p:cNvSpPr txBox="1"/>
          <p:nvPr/>
        </p:nvSpPr>
        <p:spPr>
          <a:xfrm>
            <a:off x="5669280" y="1984248"/>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1</a:t>
            </a:r>
            <a:endParaRPr lang="en-US" sz="1800" dirty="0"/>
          </a:p>
        </p:txBody>
      </p:sp>
      <p:sp>
        <p:nvSpPr>
          <p:cNvPr id="18" name="Text 15"/>
          <p:cNvSpPr txBox="1"/>
          <p:nvPr/>
        </p:nvSpPr>
        <p:spPr>
          <a:xfrm>
            <a:off x="6236208" y="1920240"/>
            <a:ext cx="5349240" cy="777240"/>
          </a:xfrm>
          <a:prstGeom prst="rect">
            <a:avLst/>
          </a:prstGeom>
          <a:noFill/>
          <a:ln/>
        </p:spPr>
        <p:txBody>
          <a:bodyPr wrap="square" lIns="0" tIns="0" rIns="0" bIns="0" rtlCol="0" anchor="t"/>
          <a:lstStyle/>
          <a:p>
            <a:pPr indent="0" marL="0">
              <a:buNone/>
            </a:pPr>
            <a:r>
              <a:rPr lang="en-US" sz="1600" b="1" dirty="0">
                <a:solidFill>
                  <a:srgbClr val="56B4E9"/>
                </a:solidFill>
                <a:latin typeface="Calibri" pitchFamily="34" charset="0"/>
                <a:ea typeface="Calibri" pitchFamily="34" charset="-122"/>
                <a:cs typeface="Calibri" pitchFamily="34" charset="-120"/>
              </a:rPr>
              <a:t>No baseline for "is this normal?"
</a:t>
            </a:r>
            <a:pPr indent="0" marL="0">
              <a:buNone/>
            </a:pPr>
            <a:r>
              <a:rPr lang="en-US" sz="1450" dirty="0">
                <a:solidFill>
                  <a:srgbClr val="FFFFFF"/>
                </a:solidFill>
                <a:latin typeface="Calibri" pitchFamily="34" charset="0"/>
                <a:ea typeface="Calibri" pitchFamily="34" charset="-122"/>
                <a:cs typeface="Calibri" pitchFamily="34" charset="-120"/>
              </a:rPr>
              <a:t>Reassurance, expectation-setting and plain-language needs make up 48% of first-year needs (n=1,063).</a:t>
            </a:r>
            <a:endParaRPr lang="en-US" sz="1450" dirty="0"/>
          </a:p>
        </p:txBody>
      </p:sp>
      <p:sp>
        <p:nvSpPr>
          <p:cNvPr id="19" name="badge-2"/>
          <p:cNvSpPr/>
          <p:nvPr/>
        </p:nvSpPr>
        <p:spPr>
          <a:xfrm>
            <a:off x="5669280" y="2798064"/>
            <a:ext cx="402336" cy="402336"/>
          </a:xfrm>
          <a:prstGeom prst="ellipse">
            <a:avLst/>
          </a:prstGeom>
          <a:solidFill>
            <a:srgbClr val="FFB000"/>
          </a:solidFill>
          <a:ln w="12700">
            <a:solidFill>
              <a:srgbClr val="FFB000"/>
            </a:solidFill>
            <a:prstDash val="solid"/>
          </a:ln>
        </p:spPr>
      </p:sp>
      <p:sp>
        <p:nvSpPr>
          <p:cNvPr id="20" name="Text 17"/>
          <p:cNvSpPr txBox="1"/>
          <p:nvPr/>
        </p:nvSpPr>
        <p:spPr>
          <a:xfrm>
            <a:off x="5669280" y="2798064"/>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2</a:t>
            </a:r>
            <a:endParaRPr lang="en-US" sz="1800" dirty="0"/>
          </a:p>
        </p:txBody>
      </p:sp>
      <p:sp>
        <p:nvSpPr>
          <p:cNvPr id="21" name="Text 18"/>
          <p:cNvSpPr txBox="1"/>
          <p:nvPr/>
        </p:nvSpPr>
        <p:spPr>
          <a:xfrm>
            <a:off x="6236208" y="2734056"/>
            <a:ext cx="5349240" cy="777240"/>
          </a:xfrm>
          <a:prstGeom prst="rect">
            <a:avLst/>
          </a:prstGeom>
          <a:noFill/>
          <a:ln/>
        </p:spPr>
        <p:txBody>
          <a:bodyPr wrap="square" lIns="0" tIns="0" rIns="0" bIns="0" rtlCol="0" anchor="t"/>
          <a:lstStyle/>
          <a:p>
            <a:pPr indent="0" marL="0">
              <a:buNone/>
            </a:pPr>
            <a:r>
              <a:rPr lang="en-US" sz="1600" b="1" dirty="0">
                <a:solidFill>
                  <a:srgbClr val="FFB000"/>
                </a:solidFill>
                <a:latin typeface="Calibri" pitchFamily="34" charset="0"/>
                <a:ea typeface="Calibri" pitchFamily="34" charset="-122"/>
                <a:cs typeface="Calibri" pitchFamily="34" charset="-120"/>
              </a:rPr>
              <a:t>Screens that are hard to read
</a:t>
            </a:r>
            <a:pPr indent="0" marL="0">
              <a:buNone/>
            </a:pPr>
            <a:r>
              <a:rPr lang="en-US" sz="1450" dirty="0">
                <a:solidFill>
                  <a:srgbClr val="FFFFFF"/>
                </a:solidFill>
                <a:latin typeface="Calibri" pitchFamily="34" charset="0"/>
                <a:ea typeface="Calibri" pitchFamily="34" charset="-122"/>
                <a:cs typeface="Calibri" pitchFamily="34" charset="-120"/>
              </a:rPr>
              <a:t>First-year confusion: SIP dates and status 30%, autopay mandate 18%, returns vs invested 14%.</a:t>
            </a:r>
            <a:endParaRPr lang="en-US" sz="1450" dirty="0"/>
          </a:p>
        </p:txBody>
      </p:sp>
      <p:sp>
        <p:nvSpPr>
          <p:cNvPr id="22" name="badge-3"/>
          <p:cNvSpPr/>
          <p:nvPr/>
        </p:nvSpPr>
        <p:spPr>
          <a:xfrm>
            <a:off x="5669280" y="3611880"/>
            <a:ext cx="402336" cy="402336"/>
          </a:xfrm>
          <a:prstGeom prst="ellipse">
            <a:avLst/>
          </a:prstGeom>
          <a:solidFill>
            <a:srgbClr val="F08DC0"/>
          </a:solidFill>
          <a:ln w="12700">
            <a:solidFill>
              <a:srgbClr val="F08DC0"/>
            </a:solidFill>
            <a:prstDash val="solid"/>
          </a:ln>
        </p:spPr>
      </p:sp>
      <p:sp>
        <p:nvSpPr>
          <p:cNvPr id="23" name="Text 20"/>
          <p:cNvSpPr txBox="1"/>
          <p:nvPr/>
        </p:nvSpPr>
        <p:spPr>
          <a:xfrm>
            <a:off x="5669280" y="3611880"/>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3</a:t>
            </a:r>
            <a:endParaRPr lang="en-US" sz="1800" dirty="0"/>
          </a:p>
        </p:txBody>
      </p:sp>
      <p:sp>
        <p:nvSpPr>
          <p:cNvPr id="24" name="Text 21"/>
          <p:cNvSpPr txBox="1"/>
          <p:nvPr/>
        </p:nvSpPr>
        <p:spPr>
          <a:xfrm>
            <a:off x="6236208" y="3547872"/>
            <a:ext cx="5349240" cy="777240"/>
          </a:xfrm>
          <a:prstGeom prst="rect">
            <a:avLst/>
          </a:prstGeom>
          <a:noFill/>
          <a:ln/>
        </p:spPr>
        <p:txBody>
          <a:bodyPr wrap="square" lIns="0" tIns="0" rIns="0" bIns="0" rtlCol="0" anchor="t"/>
          <a:lstStyle/>
          <a:p>
            <a:pPr indent="0" marL="0">
              <a:buNone/>
            </a:pPr>
            <a:r>
              <a:rPr lang="en-US" sz="1600" b="1" dirty="0">
                <a:solidFill>
                  <a:srgbClr val="F08DC0"/>
                </a:solidFill>
                <a:latin typeface="Calibri" pitchFamily="34" charset="0"/>
                <a:ea typeface="Calibri" pitchFamily="34" charset="-122"/>
                <a:cs typeface="Calibri" pitchFamily="34" charset="-120"/>
              </a:rPr>
              <a:t>No middle path
</a:t>
            </a:r>
            <a:pPr indent="0" marL="0">
              <a:buNone/>
            </a:pPr>
            <a:r>
              <a:rPr lang="en-US" sz="1450" dirty="0">
                <a:solidFill>
                  <a:srgbClr val="FFFFFF"/>
                </a:solidFill>
                <a:latin typeface="Calibri" pitchFamily="34" charset="0"/>
                <a:ea typeface="Calibri" pitchFamily="34" charset="-122"/>
                <a:cs typeface="Calibri" pitchFamily="34" charset="-120"/>
              </a:rPr>
              <a:t>22% of drop-off signals ask to pause or reduce; cash-flow pressure leads for salaried investors.</a:t>
            </a:r>
            <a:endParaRPr lang="en-US" sz="1450" dirty="0"/>
          </a:p>
        </p:txBody>
      </p:sp>
      <p:sp>
        <p:nvSpPr>
          <p:cNvPr id="25" name="badge-4"/>
          <p:cNvSpPr/>
          <p:nvPr/>
        </p:nvSpPr>
        <p:spPr>
          <a:xfrm>
            <a:off x="5669280" y="4425696"/>
            <a:ext cx="402336" cy="402336"/>
          </a:xfrm>
          <a:prstGeom prst="ellipse">
            <a:avLst/>
          </a:prstGeom>
          <a:solidFill>
            <a:srgbClr val="3DDBB0"/>
          </a:solidFill>
          <a:ln w="12700">
            <a:solidFill>
              <a:srgbClr val="3DDBB0"/>
            </a:solidFill>
            <a:prstDash val="solid"/>
          </a:ln>
        </p:spPr>
      </p:sp>
      <p:sp>
        <p:nvSpPr>
          <p:cNvPr id="26" name="Text 23"/>
          <p:cNvSpPr txBox="1"/>
          <p:nvPr/>
        </p:nvSpPr>
        <p:spPr>
          <a:xfrm>
            <a:off x="5669280" y="4425696"/>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4</a:t>
            </a:r>
            <a:endParaRPr lang="en-US" sz="1800" dirty="0"/>
          </a:p>
        </p:txBody>
      </p:sp>
      <p:sp>
        <p:nvSpPr>
          <p:cNvPr id="27" name="Text 24"/>
          <p:cNvSpPr txBox="1"/>
          <p:nvPr/>
        </p:nvSpPr>
        <p:spPr>
          <a:xfrm>
            <a:off x="6236208" y="4361688"/>
            <a:ext cx="5349240" cy="777240"/>
          </a:xfrm>
          <a:prstGeom prst="rect">
            <a:avLst/>
          </a:prstGeom>
          <a:noFill/>
          <a:ln/>
        </p:spPr>
        <p:txBody>
          <a:bodyPr wrap="square" lIns="0" tIns="0" rIns="0" bIns="0" rtlCol="0" anchor="t"/>
          <a:lstStyle/>
          <a:p>
            <a:pPr indent="0" marL="0">
              <a:buNone/>
            </a:pPr>
            <a:r>
              <a:rPr lang="en-US" sz="1600" b="1" dirty="0">
                <a:solidFill>
                  <a:srgbClr val="3DDBB0"/>
                </a:solidFill>
                <a:latin typeface="Calibri" pitchFamily="34" charset="0"/>
                <a:ea typeface="Calibri" pitchFamily="34" charset="-122"/>
                <a:cs typeface="Calibri" pitchFamily="34" charset="-120"/>
              </a:rPr>
              <a:t>Failed instalments go unseen
</a:t>
            </a:r>
            <a:pPr indent="0" marL="0">
              <a:buNone/>
            </a:pPr>
            <a:r>
              <a:rPr lang="en-US" sz="1450" dirty="0">
                <a:solidFill>
                  <a:srgbClr val="FFFFFF"/>
                </a:solidFill>
                <a:latin typeface="Calibri" pitchFamily="34" charset="0"/>
                <a:ea typeface="Calibri" pitchFamily="34" charset="-122"/>
                <a:cs typeface="Calibri" pitchFamily="34" charset="-120"/>
              </a:rPr>
              <a:t>18% of stated drop reasons are broken SIPs (payment, mandate, app); 3 of 18 survey respondents missed one.</a:t>
            </a:r>
            <a:endParaRPr lang="en-US" sz="1450" dirty="0"/>
          </a:p>
        </p:txBody>
      </p:sp>
      <p:sp>
        <p:nvSpPr>
          <p:cNvPr id="28" name="badge-5"/>
          <p:cNvSpPr/>
          <p:nvPr/>
        </p:nvSpPr>
        <p:spPr>
          <a:xfrm>
            <a:off x="5669280" y="5239512"/>
            <a:ext cx="402336" cy="402336"/>
          </a:xfrm>
          <a:prstGeom prst="ellipse">
            <a:avLst/>
          </a:prstGeom>
          <a:solidFill>
            <a:srgbClr val="F0E442"/>
          </a:solidFill>
          <a:ln w="12700">
            <a:solidFill>
              <a:srgbClr val="F0E442"/>
            </a:solidFill>
            <a:prstDash val="solid"/>
          </a:ln>
        </p:spPr>
      </p:sp>
      <p:sp>
        <p:nvSpPr>
          <p:cNvPr id="29" name="Text 26"/>
          <p:cNvSpPr txBox="1"/>
          <p:nvPr/>
        </p:nvSpPr>
        <p:spPr>
          <a:xfrm>
            <a:off x="5669280" y="523951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5</a:t>
            </a:r>
            <a:endParaRPr lang="en-US" sz="1800" dirty="0"/>
          </a:p>
        </p:txBody>
      </p:sp>
      <p:sp>
        <p:nvSpPr>
          <p:cNvPr id="30" name="Text 27"/>
          <p:cNvSpPr txBox="1"/>
          <p:nvPr/>
        </p:nvSpPr>
        <p:spPr>
          <a:xfrm>
            <a:off x="6236208" y="5175504"/>
            <a:ext cx="5349240" cy="777240"/>
          </a:xfrm>
          <a:prstGeom prst="rect">
            <a:avLst/>
          </a:prstGeom>
          <a:noFill/>
          <a:ln/>
        </p:spPr>
        <p:txBody>
          <a:bodyPr wrap="square" lIns="0" tIns="0" rIns="0" bIns="0" rtlCol="0" anchor="t"/>
          <a:lstStyle/>
          <a:p>
            <a:pPr indent="0" marL="0">
              <a:buNone/>
            </a:pPr>
            <a:r>
              <a:rPr lang="en-US" sz="1600" b="1" dirty="0">
                <a:solidFill>
                  <a:srgbClr val="F0E442"/>
                </a:solidFill>
                <a:latin typeface="Calibri" pitchFamily="34" charset="0"/>
                <a:ea typeface="Calibri" pitchFamily="34" charset="-122"/>
                <a:cs typeface="Calibri" pitchFamily="34" charset="-120"/>
              </a:rPr>
              <a:t>Help lives outside the app
</a:t>
            </a:r>
            <a:pPr indent="0" marL="0">
              <a:buNone/>
            </a:pPr>
            <a:r>
              <a:rPr lang="en-US" sz="1450" dirty="0">
                <a:solidFill>
                  <a:srgbClr val="FFFFFF"/>
                </a:solidFill>
                <a:latin typeface="Calibri" pitchFamily="34" charset="0"/>
                <a:ea typeface="Calibri" pitchFamily="34" charset="-122"/>
                <a:cs typeface="Calibri" pitchFamily="34" charset="-120"/>
              </a:rPr>
              <a:t>YouTube 38%, Reddit 32%; visible drop-offs sound confused, anxious or frustrated 62% vs 27% of continuers.</a:t>
            </a:r>
            <a:endParaRPr lang="en-US" sz="1450" dirty="0"/>
          </a:p>
        </p:txBody>
      </p:sp>
      <p:sp>
        <p:nvSpPr>
          <p:cNvPr id="31" name="Text 28"/>
          <p:cNvSpPr txBox="1"/>
          <p:nvPr/>
        </p:nvSpPr>
        <p:spPr>
          <a:xfrm>
            <a:off x="457200" y="6144768"/>
            <a:ext cx="11247120" cy="41148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Sources: discovery engine on 11,711 conversations; survey n=18 (screener to be repeated with interviews).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True problem: at the wobble moment, investors cannot read what they see or act on what they feel</a:t>
            </a:r>
            <a:endParaRPr lang="en-US" sz="2700" dirty="0"/>
          </a:p>
        </p:txBody>
      </p:sp>
      <p:sp>
        <p:nvSpPr>
          <p:cNvPr id="5" name="canvas-1"/>
          <p:cNvSpPr/>
          <p:nvPr/>
        </p:nvSpPr>
        <p:spPr>
          <a:xfrm>
            <a:off x="457200" y="1325880"/>
            <a:ext cx="4160520" cy="2697480"/>
          </a:xfrm>
          <a:prstGeom prst="roundRect">
            <a:avLst>
              <a:gd name="adj" fmla="val 6102"/>
            </a:avLst>
          </a:prstGeom>
          <a:solidFill>
            <a:srgbClr val="251D70"/>
          </a:solidFill>
          <a:ln w="25400">
            <a:solidFill>
              <a:srgbClr val="56B4E9"/>
            </a:solidFill>
            <a:prstDash val="solid"/>
          </a:ln>
        </p:spPr>
      </p:sp>
      <p:sp>
        <p:nvSpPr>
          <p:cNvPr id="6" name="badge-1"/>
          <p:cNvSpPr/>
          <p:nvPr/>
        </p:nvSpPr>
        <p:spPr>
          <a:xfrm>
            <a:off x="594360" y="1435608"/>
            <a:ext cx="420624" cy="420624"/>
          </a:xfrm>
          <a:prstGeom prst="ellipse">
            <a:avLst/>
          </a:prstGeom>
          <a:solidFill>
            <a:srgbClr val="56B4E9"/>
          </a:solidFill>
          <a:ln w="12700">
            <a:solidFill>
              <a:srgbClr val="56B4E9"/>
            </a:solidFill>
            <a:prstDash val="solid"/>
          </a:ln>
        </p:spPr>
      </p:sp>
      <p:sp>
        <p:nvSpPr>
          <p:cNvPr id="7" name="Text 5"/>
          <p:cNvSpPr txBox="1"/>
          <p:nvPr/>
        </p:nvSpPr>
        <p:spPr>
          <a:xfrm>
            <a:off x="594360" y="1435608"/>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143000" y="1435608"/>
            <a:ext cx="3337560" cy="420624"/>
          </a:xfrm>
          <a:prstGeom prst="rect">
            <a:avLst/>
          </a:prstGeom>
          <a:noFill/>
          <a:ln/>
        </p:spPr>
        <p:txBody>
          <a:bodyPr wrap="square" lIns="0" tIns="0" rIns="0" bIns="0" rtlCol="0" anchor="ctr"/>
          <a:lstStyle/>
          <a:p>
            <a:pPr indent="0" marL="0">
              <a:buNone/>
            </a:pPr>
            <a:r>
              <a:rPr lang="en-US" sz="1600" b="1" dirty="0">
                <a:solidFill>
                  <a:srgbClr val="56B4E9"/>
                </a:solidFill>
                <a:latin typeface="Calibri" pitchFamily="34" charset="0"/>
                <a:ea typeface="Calibri" pitchFamily="34" charset="-122"/>
                <a:cs typeface="Calibri" pitchFamily="34" charset="-120"/>
              </a:rPr>
              <a:t>What is the true problem?</a:t>
            </a:r>
            <a:endParaRPr lang="en-US" sz="1600" dirty="0"/>
          </a:p>
        </p:txBody>
      </p:sp>
      <p:sp>
        <p:nvSpPr>
          <p:cNvPr id="9" name="Text 7"/>
          <p:cNvSpPr txBox="1"/>
          <p:nvPr/>
        </p:nvSpPr>
        <p:spPr>
          <a:xfrm>
            <a:off x="640080" y="1947672"/>
            <a:ext cx="3794760" cy="1984248"/>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Between months 2 and 12, a small or negative number, a tight month or a scary headline triggers doubt. Investors cannot tell if it is normal, the app offers only keep paying or cancel, and help sits on YouTube, Reddit and friends. Continuation breaks at the decision moment, not at the decision to start.</a:t>
            </a:r>
            <a:endParaRPr lang="en-US" sz="1600" dirty="0"/>
          </a:p>
        </p:txBody>
      </p:sp>
      <p:sp>
        <p:nvSpPr>
          <p:cNvPr id="10" name="canvas-2"/>
          <p:cNvSpPr/>
          <p:nvPr/>
        </p:nvSpPr>
        <p:spPr>
          <a:xfrm>
            <a:off x="4754880" y="1325880"/>
            <a:ext cx="3429000" cy="2697480"/>
          </a:xfrm>
          <a:prstGeom prst="roundRect">
            <a:avLst>
              <a:gd name="adj" fmla="val 6102"/>
            </a:avLst>
          </a:prstGeom>
          <a:solidFill>
            <a:srgbClr val="251D70"/>
          </a:solidFill>
          <a:ln w="25400">
            <a:solidFill>
              <a:srgbClr val="FFB000"/>
            </a:solidFill>
            <a:prstDash val="solid"/>
          </a:ln>
        </p:spPr>
      </p:sp>
      <p:sp>
        <p:nvSpPr>
          <p:cNvPr id="11" name="badge-2"/>
          <p:cNvSpPr/>
          <p:nvPr/>
        </p:nvSpPr>
        <p:spPr>
          <a:xfrm>
            <a:off x="4892040" y="1435608"/>
            <a:ext cx="420624" cy="420624"/>
          </a:xfrm>
          <a:prstGeom prst="ellipse">
            <a:avLst/>
          </a:prstGeom>
          <a:solidFill>
            <a:srgbClr val="FFB000"/>
          </a:solidFill>
          <a:ln w="12700">
            <a:solidFill>
              <a:srgbClr val="FFB000"/>
            </a:solidFill>
            <a:prstDash val="solid"/>
          </a:ln>
        </p:spPr>
      </p:sp>
      <p:sp>
        <p:nvSpPr>
          <p:cNvPr id="12" name="Text 10"/>
          <p:cNvSpPr txBox="1"/>
          <p:nvPr/>
        </p:nvSpPr>
        <p:spPr>
          <a:xfrm>
            <a:off x="4892040" y="1435608"/>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5440680" y="1435608"/>
            <a:ext cx="2606040" cy="420624"/>
          </a:xfrm>
          <a:prstGeom prst="rect">
            <a:avLst/>
          </a:prstGeom>
          <a:noFill/>
          <a:ln/>
        </p:spPr>
        <p:txBody>
          <a:bodyPr wrap="square" lIns="0" tIns="0" rIns="0" bIns="0" rtlCol="0" anchor="ctr"/>
          <a:lstStyle/>
          <a:p>
            <a:pPr indent="0" marL="0">
              <a:buNone/>
            </a:pPr>
            <a:r>
              <a:rPr lang="en-US" sz="1600" b="1" dirty="0">
                <a:solidFill>
                  <a:srgbClr val="FFB000"/>
                </a:solidFill>
                <a:latin typeface="Calibri" pitchFamily="34" charset="0"/>
                <a:ea typeface="Calibri" pitchFamily="34" charset="-122"/>
                <a:cs typeface="Calibri" pitchFamily="34" charset="-120"/>
              </a:rPr>
              <a:t>Who faces it?</a:t>
            </a:r>
            <a:endParaRPr lang="en-US" sz="1600" dirty="0"/>
          </a:p>
        </p:txBody>
      </p:sp>
      <p:sp>
        <p:nvSpPr>
          <p:cNvPr id="14" name="Text 12"/>
          <p:cNvSpPr txBox="1"/>
          <p:nvPr/>
        </p:nvSpPr>
        <p:spPr>
          <a:xfrm>
            <a:off x="4937760" y="1947672"/>
            <a:ext cx="3063240" cy="1984248"/>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Early-career salaried first-time investors, 22 to 30, three to twelve months into a SIP paid from monthly salary. 60% of posts that state age; 63% of first-year ones; an estimated 2 to 3 million a year on Groww.</a:t>
            </a:r>
            <a:endParaRPr lang="en-US" sz="1600" dirty="0"/>
          </a:p>
        </p:txBody>
      </p:sp>
      <p:sp>
        <p:nvSpPr>
          <p:cNvPr id="15" name="canvas-3"/>
          <p:cNvSpPr/>
          <p:nvPr/>
        </p:nvSpPr>
        <p:spPr>
          <a:xfrm>
            <a:off x="8321040" y="1325880"/>
            <a:ext cx="3410712" cy="2697480"/>
          </a:xfrm>
          <a:prstGeom prst="roundRect">
            <a:avLst>
              <a:gd name="adj" fmla="val 6102"/>
            </a:avLst>
          </a:prstGeom>
          <a:solidFill>
            <a:srgbClr val="251D70"/>
          </a:solidFill>
          <a:ln w="25400">
            <a:solidFill>
              <a:srgbClr val="F08DC0"/>
            </a:solidFill>
            <a:prstDash val="solid"/>
          </a:ln>
        </p:spPr>
      </p:sp>
      <p:sp>
        <p:nvSpPr>
          <p:cNvPr id="16" name="badge-3"/>
          <p:cNvSpPr/>
          <p:nvPr/>
        </p:nvSpPr>
        <p:spPr>
          <a:xfrm>
            <a:off x="8458200" y="1435608"/>
            <a:ext cx="420624" cy="420624"/>
          </a:xfrm>
          <a:prstGeom prst="ellipse">
            <a:avLst/>
          </a:prstGeom>
          <a:solidFill>
            <a:srgbClr val="F08DC0"/>
          </a:solidFill>
          <a:ln w="12700">
            <a:solidFill>
              <a:srgbClr val="F08DC0"/>
            </a:solidFill>
            <a:prstDash val="solid"/>
          </a:ln>
        </p:spPr>
      </p:sp>
      <p:sp>
        <p:nvSpPr>
          <p:cNvPr id="17" name="Text 15"/>
          <p:cNvSpPr txBox="1"/>
          <p:nvPr/>
        </p:nvSpPr>
        <p:spPr>
          <a:xfrm>
            <a:off x="8458200" y="1435608"/>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9006840" y="1435608"/>
            <a:ext cx="2587752" cy="420624"/>
          </a:xfrm>
          <a:prstGeom prst="rect">
            <a:avLst/>
          </a:prstGeom>
          <a:noFill/>
          <a:ln/>
        </p:spPr>
        <p:txBody>
          <a:bodyPr wrap="square" lIns="0" tIns="0" rIns="0" bIns="0" rtlCol="0" anchor="ctr"/>
          <a:lstStyle/>
          <a:p>
            <a:pPr indent="0" marL="0">
              <a:buNone/>
            </a:pPr>
            <a:r>
              <a:rPr lang="en-US" sz="1600" b="1" dirty="0">
                <a:solidFill>
                  <a:srgbClr val="F08DC0"/>
                </a:solidFill>
                <a:latin typeface="Calibri" pitchFamily="34" charset="0"/>
                <a:ea typeface="Calibri" pitchFamily="34" charset="-122"/>
                <a:cs typeface="Calibri" pitchFamily="34" charset="-120"/>
              </a:rPr>
              <a:t>How do we know it is real?</a:t>
            </a:r>
            <a:endParaRPr lang="en-US" sz="1600" dirty="0"/>
          </a:p>
        </p:txBody>
      </p:sp>
      <p:sp>
        <p:nvSpPr>
          <p:cNvPr id="19" name="Text 17"/>
          <p:cNvSpPr txBox="1"/>
          <p:nvPr/>
        </p:nvSpPr>
        <p:spPr>
          <a:xfrm>
            <a:off x="8503920" y="1947672"/>
            <a:ext cx="3044952" cy="1984248"/>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rgbClr val="FFFFFF"/>
                </a:solidFill>
                <a:latin typeface="Calibri" pitchFamily="34" charset="0"/>
                <a:ea typeface="Calibri" pitchFamily="34" charset="-122"/>
                <a:cs typeface="Calibri" pitchFamily="34" charset="-120"/>
              </a:rPr>
              <a:t>43% of stated drop reasons are about understanding and expectations (n=512)</a:t>
            </a:r>
            <a:endParaRPr lang="en-US" sz="1500" dirty="0"/>
          </a:p>
          <a:p>
            <a:pPr marL="342900" indent="-342900">
              <a:spcAft>
                <a:spcPts val="300"/>
              </a:spcAft>
              <a:buSzPct val="100000"/>
              <a:buChar char="•"/>
            </a:pPr>
            <a:r>
              <a:rPr lang="en-US" sz="1500" dirty="0">
                <a:solidFill>
                  <a:srgbClr val="FFFFFF"/>
                </a:solidFill>
                <a:latin typeface="Calibri" pitchFamily="34" charset="0"/>
                <a:ea typeface="Calibri" pitchFamily="34" charset="-122"/>
                <a:cs typeface="Calibri" pitchFamily="34" charset="-120"/>
              </a:rPr>
              <a:t>9 of 18 surveyed considered stopping; 9 did nothing</a:t>
            </a:r>
            <a:endParaRPr lang="en-US" sz="1500" dirty="0"/>
          </a:p>
          <a:p>
            <a:pPr marL="342900" indent="-342900">
              <a:buSzPct val="100000"/>
              <a:buChar char="•"/>
            </a:pPr>
            <a:r>
              <a:rPr lang="en-US" sz="1500" dirty="0">
                <a:solidFill>
                  <a:srgbClr val="FFFFFF"/>
                </a:solidFill>
                <a:latin typeface="Calibri" pitchFamily="34" charset="0"/>
                <a:ea typeface="Calibri" pitchFamily="34" charset="-122"/>
                <a:cs typeface="Calibri" pitchFamily="34" charset="-120"/>
              </a:rPr>
              <a:t>Industry SIP stoppage ratio 78.5% (Sep 2026)</a:t>
            </a:r>
            <a:endParaRPr lang="en-US" sz="1500" dirty="0"/>
          </a:p>
        </p:txBody>
      </p:sp>
      <p:sp>
        <p:nvSpPr>
          <p:cNvPr id="20" name="canvas-4"/>
          <p:cNvSpPr/>
          <p:nvPr/>
        </p:nvSpPr>
        <p:spPr>
          <a:xfrm>
            <a:off x="457200" y="4160520"/>
            <a:ext cx="6400800" cy="2468880"/>
          </a:xfrm>
          <a:prstGeom prst="roundRect">
            <a:avLst>
              <a:gd name="adj" fmla="val 6667"/>
            </a:avLst>
          </a:prstGeom>
          <a:solidFill>
            <a:srgbClr val="251D70"/>
          </a:solidFill>
          <a:ln w="25400">
            <a:solidFill>
              <a:srgbClr val="3DDBB0"/>
            </a:solidFill>
            <a:prstDash val="solid"/>
          </a:ln>
        </p:spPr>
      </p:sp>
      <p:sp>
        <p:nvSpPr>
          <p:cNvPr id="21" name="badge-4"/>
          <p:cNvSpPr/>
          <p:nvPr/>
        </p:nvSpPr>
        <p:spPr>
          <a:xfrm>
            <a:off x="594360" y="4270248"/>
            <a:ext cx="420624" cy="420624"/>
          </a:xfrm>
          <a:prstGeom prst="ellipse">
            <a:avLst/>
          </a:prstGeom>
          <a:solidFill>
            <a:srgbClr val="3DDBB0"/>
          </a:solidFill>
          <a:ln w="12700">
            <a:solidFill>
              <a:srgbClr val="3DDBB0"/>
            </a:solidFill>
            <a:prstDash val="solid"/>
          </a:ln>
        </p:spPr>
      </p:sp>
      <p:sp>
        <p:nvSpPr>
          <p:cNvPr id="22" name="Text 20"/>
          <p:cNvSpPr txBox="1"/>
          <p:nvPr/>
        </p:nvSpPr>
        <p:spPr>
          <a:xfrm>
            <a:off x="594360" y="4270248"/>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4</a:t>
            </a:r>
            <a:endParaRPr lang="en-US" sz="1800" dirty="0"/>
          </a:p>
        </p:txBody>
      </p:sp>
      <p:sp>
        <p:nvSpPr>
          <p:cNvPr id="23" name="Text 21"/>
          <p:cNvSpPr txBox="1"/>
          <p:nvPr/>
        </p:nvSpPr>
        <p:spPr>
          <a:xfrm>
            <a:off x="1143000" y="4270248"/>
            <a:ext cx="5577840" cy="420624"/>
          </a:xfrm>
          <a:prstGeom prst="rect">
            <a:avLst/>
          </a:prstGeom>
          <a:noFill/>
          <a:ln/>
        </p:spPr>
        <p:txBody>
          <a:bodyPr wrap="square" lIns="0" tIns="0" rIns="0" bIns="0" rtlCol="0" anchor="ctr"/>
          <a:lstStyle/>
          <a:p>
            <a:pPr indent="0" marL="0">
              <a:buNone/>
            </a:pPr>
            <a:r>
              <a:rPr lang="en-US" sz="1600" b="1" dirty="0">
                <a:solidFill>
                  <a:srgbClr val="3DDBB0"/>
                </a:solidFill>
                <a:latin typeface="Calibri" pitchFamily="34" charset="0"/>
                <a:ea typeface="Calibri" pitchFamily="34" charset="-122"/>
                <a:cs typeface="Calibri" pitchFamily="34" charset="-120"/>
              </a:rPr>
              <a:t>What value does solving it create?</a:t>
            </a:r>
            <a:endParaRPr lang="en-US" sz="1600" dirty="0"/>
          </a:p>
        </p:txBody>
      </p:sp>
      <p:sp>
        <p:nvSpPr>
          <p:cNvPr id="24" name="Text 22"/>
          <p:cNvSpPr txBox="1"/>
          <p:nvPr/>
        </p:nvSpPr>
        <p:spPr>
          <a:xfrm>
            <a:off x="640080" y="4782312"/>
            <a:ext cx="6035040" cy="1755648"/>
          </a:xfrm>
          <a:prstGeom prst="rect">
            <a:avLst/>
          </a:prstGeom>
          <a:noFill/>
          <a:ln/>
        </p:spPr>
        <p:txBody>
          <a:bodyPr wrap="square" lIns="0" tIns="0" rIns="0" bIns="0" rtlCol="0" anchor="t"/>
          <a:lstStyle/>
          <a:p>
            <a:pPr indent="0" marL="0">
              <a:buNone/>
            </a:pPr>
            <a:r>
              <a:rPr lang="en-US" sz="1600" b="1" dirty="0">
                <a:solidFill>
                  <a:srgbClr val="3DDBB0"/>
                </a:solidFill>
                <a:latin typeface="Calibri" pitchFamily="34" charset="0"/>
                <a:ea typeface="Calibri" pitchFamily="34" charset="-122"/>
                <a:cs typeface="Calibri" pitchFamily="34" charset="-120"/>
              </a:rPr>
              <a:t>For investors: </a:t>
            </a:r>
            <a:pPr indent="0" marL="0">
              <a:buNone/>
            </a:pPr>
            <a:r>
              <a:rPr lang="en-US" sz="1600" dirty="0">
                <a:solidFill>
                  <a:srgbClr val="FFFFFF"/>
                </a:solidFill>
                <a:latin typeface="Calibri" pitchFamily="34" charset="0"/>
                <a:ea typeface="Calibri" pitchFamily="34" charset="-122"/>
                <a:cs typeface="Calibri" pitchFamily="34" charset="-120"/>
              </a:rPr>
              <a:t>calm clarity at the wobble moment, a baseline for what is normal, a reversible option instead of a cliff, fewer silent lapses.
</a:t>
            </a:r>
            <a:pPr indent="0" marL="0">
              <a:buNone/>
            </a:pPr>
            <a:r>
              <a:rPr lang="en-US" sz="1600" b="1" dirty="0">
                <a:solidFill>
                  <a:srgbClr val="3DDBB0"/>
                </a:solidFill>
                <a:latin typeface="Calibri" pitchFamily="34" charset="0"/>
                <a:ea typeface="Calibri" pitchFamily="34" charset="-122"/>
                <a:cs typeface="Calibri" pitchFamily="34" charset="-120"/>
              </a:rPr>
              <a:t>For Groww: </a:t>
            </a:r>
            <a:pPr indent="0" marL="0">
              <a:buNone/>
            </a:pPr>
            <a:r>
              <a:rPr lang="en-US" sz="1600" dirty="0">
                <a:solidFill>
                  <a:srgbClr val="FFFFFF"/>
                </a:solidFill>
                <a:latin typeface="Calibri" pitchFamily="34" charset="0"/>
                <a:ea typeface="Calibri" pitchFamily="34" charset="-122"/>
                <a:cs typeface="Calibri" pitchFamily="34" charset="-120"/>
              </a:rPr>
              <a:t>a higher 12-month active-SIP rate. Each +1 point keeps roughly 20,000 to 30,000 investors a year (estimate), with more lifetime assets and fees, fewer support contacts and compounding trust.</a:t>
            </a:r>
            <a:endParaRPr lang="en-US" sz="1600" dirty="0"/>
          </a:p>
        </p:txBody>
      </p:sp>
      <p:sp>
        <p:nvSpPr>
          <p:cNvPr id="25" name="canvas-5"/>
          <p:cNvSpPr/>
          <p:nvPr/>
        </p:nvSpPr>
        <p:spPr>
          <a:xfrm>
            <a:off x="6995160" y="4160520"/>
            <a:ext cx="4736592" cy="2468880"/>
          </a:xfrm>
          <a:prstGeom prst="roundRect">
            <a:avLst>
              <a:gd name="adj" fmla="val 6667"/>
            </a:avLst>
          </a:prstGeom>
          <a:solidFill>
            <a:srgbClr val="251D70"/>
          </a:solidFill>
          <a:ln w="25400">
            <a:solidFill>
              <a:srgbClr val="F0E442"/>
            </a:solidFill>
            <a:prstDash val="solid"/>
          </a:ln>
        </p:spPr>
      </p:sp>
      <p:sp>
        <p:nvSpPr>
          <p:cNvPr id="26" name="badge-5"/>
          <p:cNvSpPr/>
          <p:nvPr/>
        </p:nvSpPr>
        <p:spPr>
          <a:xfrm>
            <a:off x="7132320" y="4270248"/>
            <a:ext cx="420624" cy="420624"/>
          </a:xfrm>
          <a:prstGeom prst="ellipse">
            <a:avLst/>
          </a:prstGeom>
          <a:solidFill>
            <a:srgbClr val="F0E442"/>
          </a:solidFill>
          <a:ln w="12700">
            <a:solidFill>
              <a:srgbClr val="F0E442"/>
            </a:solidFill>
            <a:prstDash val="solid"/>
          </a:ln>
        </p:spPr>
      </p:sp>
      <p:sp>
        <p:nvSpPr>
          <p:cNvPr id="27" name="Text 25"/>
          <p:cNvSpPr txBox="1"/>
          <p:nvPr/>
        </p:nvSpPr>
        <p:spPr>
          <a:xfrm>
            <a:off x="7132320" y="4270248"/>
            <a:ext cx="420624" cy="420624"/>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5</a:t>
            </a:r>
            <a:endParaRPr lang="en-US" sz="1800" dirty="0"/>
          </a:p>
        </p:txBody>
      </p:sp>
      <p:sp>
        <p:nvSpPr>
          <p:cNvPr id="28" name="Text 26"/>
          <p:cNvSpPr txBox="1"/>
          <p:nvPr/>
        </p:nvSpPr>
        <p:spPr>
          <a:xfrm>
            <a:off x="7680960" y="4270248"/>
            <a:ext cx="3913632" cy="420624"/>
          </a:xfrm>
          <a:prstGeom prst="rect">
            <a:avLst/>
          </a:prstGeom>
          <a:noFill/>
          <a:ln/>
        </p:spPr>
        <p:txBody>
          <a:bodyPr wrap="square" lIns="0" tIns="0" rIns="0" bIns="0" rtlCol="0" anchor="ctr"/>
          <a:lstStyle/>
          <a:p>
            <a:pPr indent="0" marL="0">
              <a:buNone/>
            </a:pPr>
            <a:r>
              <a:rPr lang="en-US" sz="1600" b="1" dirty="0">
                <a:solidFill>
                  <a:srgbClr val="F0E442"/>
                </a:solidFill>
                <a:latin typeface="Calibri" pitchFamily="34" charset="0"/>
                <a:ea typeface="Calibri" pitchFamily="34" charset="-122"/>
                <a:cs typeface="Calibri" pitchFamily="34" charset="-120"/>
              </a:rPr>
              <a:t>Why solve it now?</a:t>
            </a:r>
            <a:endParaRPr lang="en-US" sz="1600" dirty="0"/>
          </a:p>
        </p:txBody>
      </p:sp>
      <p:sp>
        <p:nvSpPr>
          <p:cNvPr id="29" name="Text 27"/>
          <p:cNvSpPr txBox="1"/>
          <p:nvPr/>
        </p:nvSpPr>
        <p:spPr>
          <a:xfrm>
            <a:off x="7178040" y="4782312"/>
            <a:ext cx="4370832" cy="1755648"/>
          </a:xfrm>
          <a:prstGeom prst="rect">
            <a:avLst/>
          </a:prstGeom>
          <a:noFill/>
          <a:ln/>
        </p:spPr>
        <p:txBody>
          <a:bodyPr wrap="square" lIns="0" tIns="0" rIns="0" bIns="0" rtlCol="0" anchor="t"/>
          <a:lstStyle/>
          <a:p>
            <a:pPr marL="342900" indent="-342900">
              <a:spcAft>
                <a:spcPts val="300"/>
              </a:spcAft>
              <a:buSzPct val="100000"/>
              <a:buChar char="•"/>
            </a:pPr>
            <a:r>
              <a:rPr lang="en-US" sz="1600" dirty="0">
                <a:solidFill>
                  <a:srgbClr val="FFFFFF"/>
                </a:solidFill>
                <a:latin typeface="Calibri" pitchFamily="34" charset="0"/>
                <a:ea typeface="Calibri" pitchFamily="34" charset="-122"/>
                <a:cs typeface="Calibri" pitchFamily="34" charset="-120"/>
              </a:rPr>
              <a:t>Acquisition works, retention lags: record Rs 32,490 crore monthly SIPs yet a 78.5% stoppage ratio</a:t>
            </a:r>
            <a:endParaRPr lang="en-US" sz="1600" dirty="0"/>
          </a:p>
          <a:p>
            <a:pPr marL="342900" indent="-342900">
              <a:spcAft>
                <a:spcPts val="300"/>
              </a:spcAft>
              <a:buSzPct val="100000"/>
              <a:buChar char="•"/>
            </a:pPr>
            <a:r>
              <a:rPr lang="en-US" sz="1600" dirty="0">
                <a:solidFill>
                  <a:srgbClr val="FFFFFF"/>
                </a:solidFill>
                <a:latin typeface="Calibri" pitchFamily="34" charset="0"/>
                <a:ea typeface="Calibri" pitchFamily="34" charset="-122"/>
                <a:cs typeface="Calibri" pitchFamily="34" charset="-120"/>
              </a:rPr>
              <a:t>36% of new Groww users start SIP-first</a:t>
            </a:r>
            <a:endParaRPr lang="en-US" sz="1600" dirty="0"/>
          </a:p>
          <a:p>
            <a:pPr marL="342900" indent="-342900">
              <a:buSzPct val="100000"/>
              <a:buChar char="•"/>
            </a:pPr>
            <a:r>
              <a:rPr lang="en-US" sz="1600" dirty="0">
                <a:solidFill>
                  <a:srgbClr val="FFFFFF"/>
                </a:solidFill>
                <a:latin typeface="Calibri" pitchFamily="34" charset="0"/>
                <a:ea typeface="Calibri" pitchFamily="34" charset="-122"/>
                <a:cs typeface="Calibri" pitchFamily="34" charset="-120"/>
              </a:rPr>
              <a:t>AI can now answer from real conversations with built-in checks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MVP: SIP Check-in, an eval-gated AI that explains what investors see and never what to buy</a:t>
            </a:r>
            <a:endParaRPr lang="en-US" sz="2700" dirty="0"/>
          </a:p>
        </p:txBody>
      </p:sp>
      <p:sp>
        <p:nvSpPr>
          <p:cNvPr id="5" name="mvp-step-1"/>
          <p:cNvSpPr/>
          <p:nvPr/>
        </p:nvSpPr>
        <p:spPr>
          <a:xfrm>
            <a:off x="457200" y="1371600"/>
            <a:ext cx="2651760" cy="1965960"/>
          </a:xfrm>
          <a:prstGeom prst="roundRect">
            <a:avLst>
              <a:gd name="adj" fmla="val 8372"/>
            </a:avLst>
          </a:prstGeom>
          <a:solidFill>
            <a:srgbClr val="251D70"/>
          </a:solidFill>
          <a:ln w="25400">
            <a:solidFill>
              <a:srgbClr val="56B4E9"/>
            </a:solidFill>
            <a:prstDash val="solid"/>
          </a:ln>
        </p:spPr>
      </p:sp>
      <p:sp>
        <p:nvSpPr>
          <p:cNvPr id="6" name="Text 4"/>
          <p:cNvSpPr txBox="1"/>
          <p:nvPr/>
        </p:nvSpPr>
        <p:spPr>
          <a:xfrm>
            <a:off x="594360" y="1444752"/>
            <a:ext cx="2377440" cy="365760"/>
          </a:xfrm>
          <a:prstGeom prst="rect">
            <a:avLst/>
          </a:prstGeom>
          <a:noFill/>
          <a:ln/>
        </p:spPr>
        <p:txBody>
          <a:bodyPr wrap="square" lIns="0" tIns="0" rIns="0" bIns="0" rtlCol="0" anchor="t"/>
          <a:lstStyle/>
          <a:p>
            <a:pPr indent="0" marL="0">
              <a:buNone/>
            </a:pPr>
            <a:r>
              <a:rPr lang="en-US" sz="1700" b="1" dirty="0">
                <a:solidFill>
                  <a:srgbClr val="56B4E9"/>
                </a:solidFill>
                <a:latin typeface="Calibri" pitchFamily="34" charset="0"/>
                <a:ea typeface="Calibri" pitchFamily="34" charset="-122"/>
                <a:cs typeface="Calibri" pitchFamily="34" charset="-120"/>
              </a:rPr>
              <a:t>1  Trigger</a:t>
            </a:r>
            <a:endParaRPr lang="en-US" sz="1700" dirty="0"/>
          </a:p>
        </p:txBody>
      </p:sp>
      <p:sp>
        <p:nvSpPr>
          <p:cNvPr id="7" name="Text 5"/>
          <p:cNvSpPr txBox="1"/>
          <p:nvPr/>
        </p:nvSpPr>
        <p:spPr>
          <a:xfrm>
            <a:off x="594360" y="1847088"/>
            <a:ext cx="2377440" cy="146304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Opens from the month 2 to 6 statement or when an investor taps pause or cancel</a:t>
            </a:r>
            <a:endParaRPr lang="en-US" sz="1550" dirty="0"/>
          </a:p>
        </p:txBody>
      </p:sp>
      <p:sp>
        <p:nvSpPr>
          <p:cNvPr id="8" name="Text 6"/>
          <p:cNvSpPr txBox="1"/>
          <p:nvPr/>
        </p:nvSpPr>
        <p:spPr>
          <a:xfrm>
            <a:off x="3090672" y="2148840"/>
            <a:ext cx="228600" cy="457200"/>
          </a:xfrm>
          <a:prstGeom prst="rect">
            <a:avLst/>
          </a:prstGeom>
          <a:noFill/>
          <a:ln/>
        </p:spPr>
        <p:txBody>
          <a:bodyPr wrap="square" lIns="0" tIns="0" rIns="0" bIns="0" rtlCol="0" anchor="ctr"/>
          <a:lstStyle/>
          <a:p>
            <a:pPr algn="ctr" indent="0" marL="0">
              <a:buNone/>
            </a:pPr>
            <a:r>
              <a:rPr lang="en-US" sz="2400" b="1" dirty="0">
                <a:solidFill>
                  <a:srgbClr val="F0E442"/>
                </a:solidFill>
                <a:latin typeface="Calibri" pitchFamily="34" charset="0"/>
                <a:ea typeface="Calibri" pitchFamily="34" charset="-122"/>
                <a:cs typeface="Calibri" pitchFamily="34" charset="-120"/>
              </a:rPr>
              <a:t>&gt;</a:t>
            </a:r>
            <a:endParaRPr lang="en-US" sz="2400" dirty="0"/>
          </a:p>
        </p:txBody>
      </p:sp>
      <p:sp>
        <p:nvSpPr>
          <p:cNvPr id="9" name="mvp-step-2"/>
          <p:cNvSpPr/>
          <p:nvPr/>
        </p:nvSpPr>
        <p:spPr>
          <a:xfrm>
            <a:off x="3310128" y="1371600"/>
            <a:ext cx="2651760" cy="1965960"/>
          </a:xfrm>
          <a:prstGeom prst="roundRect">
            <a:avLst>
              <a:gd name="adj" fmla="val 8372"/>
            </a:avLst>
          </a:prstGeom>
          <a:solidFill>
            <a:srgbClr val="251D70"/>
          </a:solidFill>
          <a:ln w="25400">
            <a:solidFill>
              <a:srgbClr val="FFB000"/>
            </a:solidFill>
            <a:prstDash val="solid"/>
          </a:ln>
        </p:spPr>
      </p:sp>
      <p:sp>
        <p:nvSpPr>
          <p:cNvPr id="10" name="Text 8"/>
          <p:cNvSpPr txBox="1"/>
          <p:nvPr/>
        </p:nvSpPr>
        <p:spPr>
          <a:xfrm>
            <a:off x="3447288" y="1444752"/>
            <a:ext cx="2377440" cy="365760"/>
          </a:xfrm>
          <a:prstGeom prst="rect">
            <a:avLst/>
          </a:prstGeom>
          <a:noFill/>
          <a:ln/>
        </p:spPr>
        <p:txBody>
          <a:bodyPr wrap="square" lIns="0" tIns="0" rIns="0" bIns="0" rtlCol="0" anchor="t"/>
          <a:lstStyle/>
          <a:p>
            <a:pPr indent="0" marL="0">
              <a:buNone/>
            </a:pPr>
            <a:r>
              <a:rPr lang="en-US" sz="1700" b="1" dirty="0">
                <a:solidFill>
                  <a:srgbClr val="FFB000"/>
                </a:solidFill>
                <a:latin typeface="Calibri" pitchFamily="34" charset="0"/>
                <a:ea typeface="Calibri" pitchFamily="34" charset="-122"/>
                <a:cs typeface="Calibri" pitchFamily="34" charset="-120"/>
              </a:rPr>
              <a:t>2  Inputs</a:t>
            </a:r>
            <a:endParaRPr lang="en-US" sz="1700" dirty="0"/>
          </a:p>
        </p:txBody>
      </p:sp>
      <p:sp>
        <p:nvSpPr>
          <p:cNvPr id="11" name="Text 9"/>
          <p:cNvSpPr txBox="1"/>
          <p:nvPr/>
        </p:nvSpPr>
        <p:spPr>
          <a:xfrm>
            <a:off x="3447288" y="1847088"/>
            <a:ext cx="2377440" cy="146304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Months in, amount band, return shown, what worries them (chips). English, Hindi or Hinglish</a:t>
            </a:r>
            <a:endParaRPr lang="en-US" sz="1550" dirty="0"/>
          </a:p>
        </p:txBody>
      </p:sp>
      <p:sp>
        <p:nvSpPr>
          <p:cNvPr id="12" name="Text 10"/>
          <p:cNvSpPr txBox="1"/>
          <p:nvPr/>
        </p:nvSpPr>
        <p:spPr>
          <a:xfrm>
            <a:off x="5943600" y="2148840"/>
            <a:ext cx="228600" cy="457200"/>
          </a:xfrm>
          <a:prstGeom prst="rect">
            <a:avLst/>
          </a:prstGeom>
          <a:noFill/>
          <a:ln/>
        </p:spPr>
        <p:txBody>
          <a:bodyPr wrap="square" lIns="0" tIns="0" rIns="0" bIns="0" rtlCol="0" anchor="ctr"/>
          <a:lstStyle/>
          <a:p>
            <a:pPr algn="ctr" indent="0" marL="0">
              <a:buNone/>
            </a:pPr>
            <a:r>
              <a:rPr lang="en-US" sz="2400" b="1" dirty="0">
                <a:solidFill>
                  <a:srgbClr val="F0E442"/>
                </a:solidFill>
                <a:latin typeface="Calibri" pitchFamily="34" charset="0"/>
                <a:ea typeface="Calibri" pitchFamily="34" charset="-122"/>
                <a:cs typeface="Calibri" pitchFamily="34" charset="-120"/>
              </a:rPr>
              <a:t>&gt;</a:t>
            </a:r>
            <a:endParaRPr lang="en-US" sz="2400" dirty="0"/>
          </a:p>
        </p:txBody>
      </p:sp>
      <p:sp>
        <p:nvSpPr>
          <p:cNvPr id="13" name="mvp-step-3"/>
          <p:cNvSpPr/>
          <p:nvPr/>
        </p:nvSpPr>
        <p:spPr>
          <a:xfrm>
            <a:off x="6163056" y="1371600"/>
            <a:ext cx="2651760" cy="1965960"/>
          </a:xfrm>
          <a:prstGeom prst="roundRect">
            <a:avLst>
              <a:gd name="adj" fmla="val 8372"/>
            </a:avLst>
          </a:prstGeom>
          <a:solidFill>
            <a:srgbClr val="251D70"/>
          </a:solidFill>
          <a:ln w="25400">
            <a:solidFill>
              <a:srgbClr val="F08DC0"/>
            </a:solidFill>
            <a:prstDash val="solid"/>
          </a:ln>
        </p:spPr>
      </p:sp>
      <p:sp>
        <p:nvSpPr>
          <p:cNvPr id="14" name="Text 12"/>
          <p:cNvSpPr txBox="1"/>
          <p:nvPr/>
        </p:nvSpPr>
        <p:spPr>
          <a:xfrm>
            <a:off x="6300216" y="1444752"/>
            <a:ext cx="2377440" cy="365760"/>
          </a:xfrm>
          <a:prstGeom prst="rect">
            <a:avLst/>
          </a:prstGeom>
          <a:noFill/>
          <a:ln/>
        </p:spPr>
        <p:txBody>
          <a:bodyPr wrap="square" lIns="0" tIns="0" rIns="0" bIns="0" rtlCol="0" anchor="t"/>
          <a:lstStyle/>
          <a:p>
            <a:pPr indent="0" marL="0">
              <a:buNone/>
            </a:pPr>
            <a:r>
              <a:rPr lang="en-US" sz="1700" b="1" dirty="0">
                <a:solidFill>
                  <a:srgbClr val="F08DC0"/>
                </a:solidFill>
                <a:latin typeface="Calibri" pitchFamily="34" charset="0"/>
                <a:ea typeface="Calibri" pitchFamily="34" charset="-122"/>
                <a:cs typeface="Calibri" pitchFamily="34" charset="-120"/>
              </a:rPr>
              <a:t>3  AI answer</a:t>
            </a:r>
            <a:endParaRPr lang="en-US" sz="1700" dirty="0"/>
          </a:p>
        </p:txBody>
      </p:sp>
      <p:sp>
        <p:nvSpPr>
          <p:cNvPr id="15" name="Text 13"/>
          <p:cNvSpPr txBox="1"/>
          <p:nvPr/>
        </p:nvSpPr>
        <p:spPr>
          <a:xfrm>
            <a:off x="6300216" y="1847088"/>
            <a:ext cx="2377440" cy="146304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2 to 3 calm sentences: what the number means and what similar investors said or did, cited from real conversations</a:t>
            </a:r>
            <a:endParaRPr lang="en-US" sz="1550" dirty="0"/>
          </a:p>
        </p:txBody>
      </p:sp>
      <p:sp>
        <p:nvSpPr>
          <p:cNvPr id="16" name="Text 14"/>
          <p:cNvSpPr txBox="1"/>
          <p:nvPr/>
        </p:nvSpPr>
        <p:spPr>
          <a:xfrm>
            <a:off x="8796528" y="2148840"/>
            <a:ext cx="228600" cy="457200"/>
          </a:xfrm>
          <a:prstGeom prst="rect">
            <a:avLst/>
          </a:prstGeom>
          <a:noFill/>
          <a:ln/>
        </p:spPr>
        <p:txBody>
          <a:bodyPr wrap="square" lIns="0" tIns="0" rIns="0" bIns="0" rtlCol="0" anchor="ctr"/>
          <a:lstStyle/>
          <a:p>
            <a:pPr algn="ctr" indent="0" marL="0">
              <a:buNone/>
            </a:pPr>
            <a:r>
              <a:rPr lang="en-US" sz="2400" b="1" dirty="0">
                <a:solidFill>
                  <a:srgbClr val="F0E442"/>
                </a:solidFill>
                <a:latin typeface="Calibri" pitchFamily="34" charset="0"/>
                <a:ea typeface="Calibri" pitchFamily="34" charset="-122"/>
                <a:cs typeface="Calibri" pitchFamily="34" charset="-120"/>
              </a:rPr>
              <a:t>&gt;</a:t>
            </a:r>
            <a:endParaRPr lang="en-US" sz="2400" dirty="0"/>
          </a:p>
        </p:txBody>
      </p:sp>
      <p:sp>
        <p:nvSpPr>
          <p:cNvPr id="17" name="mvp-step-4"/>
          <p:cNvSpPr/>
          <p:nvPr/>
        </p:nvSpPr>
        <p:spPr>
          <a:xfrm>
            <a:off x="9015984" y="1371600"/>
            <a:ext cx="2651760" cy="1965960"/>
          </a:xfrm>
          <a:prstGeom prst="roundRect">
            <a:avLst>
              <a:gd name="adj" fmla="val 8372"/>
            </a:avLst>
          </a:prstGeom>
          <a:solidFill>
            <a:srgbClr val="33288F"/>
          </a:solidFill>
          <a:ln w="25400">
            <a:solidFill>
              <a:srgbClr val="3DDBB0"/>
            </a:solidFill>
            <a:prstDash val="solid"/>
          </a:ln>
        </p:spPr>
      </p:sp>
      <p:sp>
        <p:nvSpPr>
          <p:cNvPr id="18" name="Text 16"/>
          <p:cNvSpPr txBox="1"/>
          <p:nvPr/>
        </p:nvSpPr>
        <p:spPr>
          <a:xfrm>
            <a:off x="9153144" y="1444752"/>
            <a:ext cx="2377440" cy="365760"/>
          </a:xfrm>
          <a:prstGeom prst="rect">
            <a:avLst/>
          </a:prstGeom>
          <a:noFill/>
          <a:ln/>
        </p:spPr>
        <p:txBody>
          <a:bodyPr wrap="square" lIns="0" tIns="0" rIns="0" bIns="0" rtlCol="0" anchor="t"/>
          <a:lstStyle/>
          <a:p>
            <a:pPr indent="0" marL="0">
              <a:buNone/>
            </a:pPr>
            <a:r>
              <a:rPr lang="en-US" sz="1700" b="1" dirty="0">
                <a:solidFill>
                  <a:srgbClr val="3DDBB0"/>
                </a:solidFill>
                <a:latin typeface="Calibri" pitchFamily="34" charset="0"/>
                <a:ea typeface="Calibri" pitchFamily="34" charset="-122"/>
                <a:cs typeface="Calibri" pitchFamily="34" charset="-120"/>
              </a:rPr>
              <a:t>4  Quality gate</a:t>
            </a:r>
            <a:endParaRPr lang="en-US" sz="1700" dirty="0"/>
          </a:p>
        </p:txBody>
      </p:sp>
      <p:sp>
        <p:nvSpPr>
          <p:cNvPr id="19" name="Text 17"/>
          <p:cNvSpPr txBox="1"/>
          <p:nvPr/>
        </p:nvSpPr>
        <p:spPr>
          <a:xfrm>
            <a:off x="9153144" y="1847088"/>
            <a:ext cx="2377440" cy="1463040"/>
          </a:xfrm>
          <a:prstGeom prst="rect">
            <a:avLst/>
          </a:prstGeom>
          <a:noFill/>
          <a:ln/>
        </p:spPr>
        <p:txBody>
          <a:bodyPr wrap="square" lIns="0" tIns="0" rIns="0" bIns="0" rtlCol="0" anchor="t"/>
          <a:lstStyle/>
          <a:p>
            <a:pPr indent="0" marL="0">
              <a:buNone/>
            </a:pPr>
            <a:r>
              <a:rPr lang="en-US" sz="1550" dirty="0">
                <a:solidFill>
                  <a:srgbClr val="FFFFFF"/>
                </a:solidFill>
                <a:latin typeface="Calibri" pitchFamily="34" charset="0"/>
                <a:ea typeface="Calibri" pitchFamily="34" charset="-122"/>
                <a:cs typeface="Calibri" pitchFamily="34" charset="-120"/>
              </a:rPr>
              <a:t>Grounded, no advice, numbers verified. If any check fails: safe fallback with AMFI, SEBI and Groww support links</a:t>
            </a:r>
            <a:endParaRPr lang="en-US" sz="1550" dirty="0"/>
          </a:p>
        </p:txBody>
      </p:sp>
      <p:sp>
        <p:nvSpPr>
          <p:cNvPr id="20" name="mvp-card-1"/>
          <p:cNvSpPr/>
          <p:nvPr/>
        </p:nvSpPr>
        <p:spPr>
          <a:xfrm>
            <a:off x="457200" y="3520440"/>
            <a:ext cx="3639312" cy="2011680"/>
          </a:xfrm>
          <a:prstGeom prst="roundRect">
            <a:avLst>
              <a:gd name="adj" fmla="val 8182"/>
            </a:avLst>
          </a:prstGeom>
          <a:solidFill>
            <a:srgbClr val="251D70"/>
          </a:solidFill>
          <a:ln w="25400">
            <a:solidFill>
              <a:srgbClr val="56B4E9"/>
            </a:solidFill>
            <a:prstDash val="solid"/>
          </a:ln>
        </p:spPr>
      </p:sp>
      <p:sp>
        <p:nvSpPr>
          <p:cNvPr id="21" name="Text 19"/>
          <p:cNvSpPr txBox="1"/>
          <p:nvPr/>
        </p:nvSpPr>
        <p:spPr>
          <a:xfrm>
            <a:off x="621792" y="3593592"/>
            <a:ext cx="3310128" cy="365760"/>
          </a:xfrm>
          <a:prstGeom prst="rect">
            <a:avLst/>
          </a:prstGeom>
          <a:noFill/>
          <a:ln/>
        </p:spPr>
        <p:txBody>
          <a:bodyPr wrap="square" lIns="0" tIns="0" rIns="0" bIns="0" rtlCol="0" anchor="t"/>
          <a:lstStyle/>
          <a:p>
            <a:pPr indent="0" marL="0">
              <a:buNone/>
            </a:pPr>
            <a:r>
              <a:rPr lang="en-US" sz="1700" b="1" dirty="0">
                <a:solidFill>
                  <a:srgbClr val="56B4E9"/>
                </a:solidFill>
                <a:latin typeface="Calibri" pitchFamily="34" charset="0"/>
                <a:ea typeface="Calibri" pitchFamily="34" charset="-122"/>
                <a:cs typeface="Calibri" pitchFamily="34" charset="-120"/>
              </a:rPr>
              <a:t>Where AI earns its place</a:t>
            </a:r>
            <a:endParaRPr lang="en-US" sz="1700" dirty="0"/>
          </a:p>
        </p:txBody>
      </p:sp>
      <p:sp>
        <p:nvSpPr>
          <p:cNvPr id="22" name="Text 20"/>
          <p:cNvSpPr txBox="1"/>
          <p:nvPr/>
        </p:nvSpPr>
        <p:spPr>
          <a:xfrm>
            <a:off x="621792" y="3977640"/>
            <a:ext cx="3310128" cy="1508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It reads the investor's own numbers and worry in their language, retrieves similar real cases, and writes a calm explanation at the exact moment of doubt.</a:t>
            </a:r>
            <a:endParaRPr lang="en-US" sz="1500" dirty="0"/>
          </a:p>
        </p:txBody>
      </p:sp>
      <p:sp>
        <p:nvSpPr>
          <p:cNvPr id="23" name="mvp-card-2"/>
          <p:cNvSpPr/>
          <p:nvPr/>
        </p:nvSpPr>
        <p:spPr>
          <a:xfrm>
            <a:off x="4279392" y="3520440"/>
            <a:ext cx="3639312" cy="2011680"/>
          </a:xfrm>
          <a:prstGeom prst="roundRect">
            <a:avLst>
              <a:gd name="adj" fmla="val 8182"/>
            </a:avLst>
          </a:prstGeom>
          <a:solidFill>
            <a:srgbClr val="251D70"/>
          </a:solidFill>
          <a:ln w="25400">
            <a:solidFill>
              <a:srgbClr val="FFB000"/>
            </a:solidFill>
            <a:prstDash val="solid"/>
          </a:ln>
        </p:spPr>
      </p:sp>
      <p:sp>
        <p:nvSpPr>
          <p:cNvPr id="24" name="Text 22"/>
          <p:cNvSpPr txBox="1"/>
          <p:nvPr/>
        </p:nvSpPr>
        <p:spPr>
          <a:xfrm>
            <a:off x="4443984" y="3593592"/>
            <a:ext cx="3310128" cy="365760"/>
          </a:xfrm>
          <a:prstGeom prst="rect">
            <a:avLst/>
          </a:prstGeom>
          <a:noFill/>
          <a:ln/>
        </p:spPr>
        <p:txBody>
          <a:bodyPr wrap="square" lIns="0" tIns="0" rIns="0" bIns="0" rtlCol="0" anchor="t"/>
          <a:lstStyle/>
          <a:p>
            <a:pPr indent="0" marL="0">
              <a:buNone/>
            </a:pPr>
            <a:r>
              <a:rPr lang="en-US" sz="1700" b="1" dirty="0">
                <a:solidFill>
                  <a:srgbClr val="FFB000"/>
                </a:solidFill>
                <a:latin typeface="Calibri" pitchFamily="34" charset="0"/>
                <a:ea typeface="Calibri" pitchFamily="34" charset="-122"/>
                <a:cs typeface="Calibri" pitchFamily="34" charset="-120"/>
              </a:rPr>
              <a:t>What a non-AI version misses</a:t>
            </a:r>
            <a:endParaRPr lang="en-US" sz="1700" dirty="0"/>
          </a:p>
        </p:txBody>
      </p:sp>
      <p:sp>
        <p:nvSpPr>
          <p:cNvPr id="25" name="Text 23"/>
          <p:cNvSpPr txBox="1"/>
          <p:nvPr/>
        </p:nvSpPr>
        <p:spPr>
          <a:xfrm>
            <a:off x="4443984" y="3977640"/>
            <a:ext cx="3310128" cy="1508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A static FAQ cannot tailor to month, amount and worry. Rules can compute returns but not tell cash stress from confusion. Advisors do not scale to millions.</a:t>
            </a:r>
            <a:endParaRPr lang="en-US" sz="1500" dirty="0"/>
          </a:p>
        </p:txBody>
      </p:sp>
      <p:sp>
        <p:nvSpPr>
          <p:cNvPr id="26" name="mvp-card-3"/>
          <p:cNvSpPr/>
          <p:nvPr/>
        </p:nvSpPr>
        <p:spPr>
          <a:xfrm>
            <a:off x="8101584" y="3520440"/>
            <a:ext cx="3639312" cy="2011680"/>
          </a:xfrm>
          <a:prstGeom prst="roundRect">
            <a:avLst>
              <a:gd name="adj" fmla="val 8182"/>
            </a:avLst>
          </a:prstGeom>
          <a:solidFill>
            <a:srgbClr val="251D70"/>
          </a:solidFill>
          <a:ln w="25400">
            <a:solidFill>
              <a:srgbClr val="3DDBB0"/>
            </a:solidFill>
            <a:prstDash val="solid"/>
          </a:ln>
        </p:spPr>
      </p:sp>
      <p:sp>
        <p:nvSpPr>
          <p:cNvPr id="27" name="Text 25"/>
          <p:cNvSpPr txBox="1"/>
          <p:nvPr/>
        </p:nvSpPr>
        <p:spPr>
          <a:xfrm>
            <a:off x="8266176" y="3593592"/>
            <a:ext cx="3310128" cy="365760"/>
          </a:xfrm>
          <a:prstGeom prst="rect">
            <a:avLst/>
          </a:prstGeom>
          <a:noFill/>
          <a:ln/>
        </p:spPr>
        <p:txBody>
          <a:bodyPr wrap="square" lIns="0" tIns="0" rIns="0" bIns="0" rtlCol="0" anchor="t"/>
          <a:lstStyle/>
          <a:p>
            <a:pPr indent="0" marL="0">
              <a:buNone/>
            </a:pPr>
            <a:r>
              <a:rPr lang="en-US" sz="1700" b="1" dirty="0">
                <a:solidFill>
                  <a:srgbClr val="3DDBB0"/>
                </a:solidFill>
                <a:latin typeface="Calibri" pitchFamily="34" charset="0"/>
                <a:ea typeface="Calibri" pitchFamily="34" charset="-122"/>
                <a:cs typeface="Calibri" pitchFamily="34" charset="-120"/>
              </a:rPr>
              <a:t>Eval gate before launch</a:t>
            </a:r>
            <a:endParaRPr lang="en-US" sz="1700" dirty="0"/>
          </a:p>
        </p:txBody>
      </p:sp>
      <p:sp>
        <p:nvSpPr>
          <p:cNvPr id="28" name="Text 26"/>
          <p:cNvSpPr txBox="1"/>
          <p:nvPr/>
        </p:nvSpPr>
        <p:spPr>
          <a:xfrm>
            <a:off x="8266176" y="3977640"/>
            <a:ext cx="3310128" cy="15087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Ships only if the golden set shows 95%+ grounded answers, zero advice or return-prediction language, and 100% refusal of fund-pick and injection tests. Engine today: 19/19 tricky questions handled, 11/12 answers grounded.</a:t>
            </a:r>
            <a:endParaRPr lang="en-US" sz="1500" dirty="0"/>
          </a:p>
        </p:txBody>
      </p:sp>
      <p:sp>
        <p:nvSpPr>
          <p:cNvPr id="29" name="mvp-disclaimer"/>
          <p:cNvSpPr/>
          <p:nvPr/>
        </p:nvSpPr>
        <p:spPr>
          <a:xfrm>
            <a:off x="457200" y="5669280"/>
            <a:ext cx="11274552" cy="502920"/>
          </a:xfrm>
          <a:prstGeom prst="roundRect">
            <a:avLst>
              <a:gd name="adj" fmla="val 32727"/>
            </a:avLst>
          </a:prstGeom>
          <a:solidFill>
            <a:srgbClr val="33288F"/>
          </a:solidFill>
          <a:ln w="25400">
            <a:solidFill>
              <a:srgbClr val="F0E442"/>
            </a:solidFill>
            <a:prstDash val="solid"/>
          </a:ln>
        </p:spPr>
      </p:sp>
      <p:sp>
        <p:nvSpPr>
          <p:cNvPr id="30" name="Text 28"/>
          <p:cNvSpPr txBox="1"/>
          <p:nvPr/>
        </p:nvSpPr>
        <p:spPr>
          <a:xfrm>
            <a:off x="640080" y="5669280"/>
            <a:ext cx="10881360" cy="502920"/>
          </a:xfrm>
          <a:prstGeom prst="rect">
            <a:avLst/>
          </a:prstGeom>
          <a:noFill/>
          <a:ln/>
        </p:spPr>
        <p:txBody>
          <a:bodyPr wrap="square" lIns="0" tIns="0" rIns="0" bIns="0" rtlCol="0" anchor="ctr"/>
          <a:lstStyle/>
          <a:p>
            <a:pPr algn="ctr" indent="0" marL="0">
              <a:buNone/>
            </a:pPr>
            <a:r>
              <a:rPr lang="en-US" sz="1500" b="1" dirty="0">
                <a:solidFill>
                  <a:srgbClr val="F0E442"/>
                </a:solidFill>
                <a:latin typeface="Calibri" pitchFamily="34" charset="0"/>
                <a:ea typeface="Calibri" pitchFamily="34" charset="-122"/>
                <a:cs typeface="Calibri" pitchFamily="34" charset="-120"/>
              </a:rPr>
              <a:t>Not investment advice. No fund names, no return predictions, no fear or urgency. Pause and cancel are never blocked.</a:t>
            </a:r>
            <a:endParaRPr lang="en-US" sz="1500" dirty="0"/>
          </a:p>
        </p:txBody>
      </p:sp>
      <p:sp>
        <p:nvSpPr>
          <p:cNvPr id="31" name="Text 29"/>
          <p:cNvSpPr txBox="1"/>
          <p:nvPr/>
        </p:nvSpPr>
        <p:spPr>
          <a:xfrm>
            <a:off x="457200" y="6291072"/>
            <a:ext cx="11247120" cy="36576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Retrieval core already live: </a:t>
            </a:r>
            <a:pPr indent="0" marL="0">
              <a:buNone/>
            </a:pPr>
            <a:r>
              <a:rPr lang="en-US" sz="1400" b="1" u="sng" dirty="0">
                <a:solidFill>
                  <a:srgbClr val="56B4E9"/>
                </a:solidFill>
                <a:uFill>
                  <a:solidFill>
                    <a:srgbClr val="56B4E9"/>
                  </a:solidFill>
                </a:uFill>
                <a:latin typeface="Calibri" pitchFamily="34" charset="0"/>
                <a:ea typeface="Calibri" pitchFamily="34" charset="-122"/>
                <a:cs typeface="Calibri" pitchFamily="34" charset="-120"/>
                <a:hlinkClick r:id="rId1" invalidUrl="" action="" tgtFrame="" tooltip="https://nextleapgradprojectgrowwsipresearch.vercel.app/" history="1" highlightClick="0" endSnd="0">
                  <a:extLst>
                    <a:ext uri="{A12FA001-AC4F-418D-AE19-62706E023703}">
                      <ahyp:hlinkClr xmlns:ahyp="http://schemas.microsoft.com/office/drawing/2018/hyperlinkcolor" val="tx"/>
                    </a:ext>
                  </a:extLst>
                </a:hlinkClick>
              </a:rPr>
              <a:t>discovery engine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Success: lift 12-month active SIPs, tracked by leading indicators, guardrails and AI quality gates</a:t>
            </a:r>
            <a:endParaRPr lang="en-US" sz="2700" dirty="0"/>
          </a:p>
        </p:txBody>
      </p:sp>
      <p:sp>
        <p:nvSpPr>
          <p:cNvPr id="5" name="north-star-card"/>
          <p:cNvSpPr/>
          <p:nvPr/>
        </p:nvSpPr>
        <p:spPr>
          <a:xfrm>
            <a:off x="457200" y="1325880"/>
            <a:ext cx="11274552" cy="868680"/>
          </a:xfrm>
          <a:prstGeom prst="roundRect">
            <a:avLst>
              <a:gd name="adj" fmla="val 18947"/>
            </a:avLst>
          </a:prstGeom>
          <a:solidFill>
            <a:srgbClr val="33288F"/>
          </a:solidFill>
          <a:ln w="25400">
            <a:solidFill>
              <a:srgbClr val="F0E442"/>
            </a:solidFill>
            <a:prstDash val="solid"/>
          </a:ln>
        </p:spPr>
      </p:sp>
      <p:sp>
        <p:nvSpPr>
          <p:cNvPr id="6" name="Text 4"/>
          <p:cNvSpPr txBox="1"/>
          <p:nvPr/>
        </p:nvSpPr>
        <p:spPr>
          <a:xfrm>
            <a:off x="640080" y="1325880"/>
            <a:ext cx="10881360" cy="868680"/>
          </a:xfrm>
          <a:prstGeom prst="rect">
            <a:avLst/>
          </a:prstGeom>
          <a:noFill/>
          <a:ln/>
        </p:spPr>
        <p:txBody>
          <a:bodyPr wrap="square" lIns="0" tIns="0" rIns="0" bIns="0" rtlCol="0" anchor="ctr"/>
          <a:lstStyle/>
          <a:p>
            <a:pPr indent="0" marL="0">
              <a:buNone/>
            </a:pPr>
            <a:r>
              <a:rPr lang="en-US" sz="1700" b="1" dirty="0">
                <a:solidFill>
                  <a:srgbClr val="F0E442"/>
                </a:solidFill>
                <a:latin typeface="Calibri" pitchFamily="34" charset="0"/>
                <a:ea typeface="Calibri" pitchFamily="34" charset="-122"/>
                <a:cs typeface="Calibri" pitchFamily="34" charset="-120"/>
              </a:rPr>
              <a:t>North star: </a:t>
            </a:r>
            <a:pPr indent="0" marL="0">
              <a:buNone/>
            </a:pPr>
            <a:r>
              <a:rPr lang="en-US" sz="1700" dirty="0">
                <a:solidFill>
                  <a:srgbClr val="FFFFFF"/>
                </a:solidFill>
                <a:latin typeface="Calibri" pitchFamily="34" charset="0"/>
                <a:ea typeface="Calibri" pitchFamily="34" charset="-122"/>
                <a:cs typeface="Calibri" pitchFamily="34" charset="-120"/>
              </a:rPr>
              <a:t>% of first-time investors with at least one successful instalment in the last 30 days, 12 months after their first SIP. Target: +2 to +3 points vs a control group (set from Groww baseline).</a:t>
            </a:r>
            <a:endParaRPr lang="en-US" sz="1700" dirty="0"/>
          </a:p>
        </p:txBody>
      </p:sp>
      <p:sp>
        <p:nvSpPr>
          <p:cNvPr id="7" name="metrics-col-1"/>
          <p:cNvSpPr/>
          <p:nvPr/>
        </p:nvSpPr>
        <p:spPr>
          <a:xfrm>
            <a:off x="457200" y="2331720"/>
            <a:ext cx="3639312" cy="3794760"/>
          </a:xfrm>
          <a:prstGeom prst="roundRect">
            <a:avLst>
              <a:gd name="adj" fmla="val 4523"/>
            </a:avLst>
          </a:prstGeom>
          <a:solidFill>
            <a:srgbClr val="251D70"/>
          </a:solidFill>
          <a:ln w="25400">
            <a:solidFill>
              <a:srgbClr val="56B4E9"/>
            </a:solidFill>
            <a:prstDash val="solid"/>
          </a:ln>
        </p:spPr>
      </p:sp>
      <p:sp>
        <p:nvSpPr>
          <p:cNvPr id="8" name="Text 6"/>
          <p:cNvSpPr txBox="1"/>
          <p:nvPr/>
        </p:nvSpPr>
        <p:spPr>
          <a:xfrm>
            <a:off x="621792" y="2395728"/>
            <a:ext cx="3310128" cy="640080"/>
          </a:xfrm>
          <a:prstGeom prst="rect">
            <a:avLst/>
          </a:prstGeom>
          <a:noFill/>
          <a:ln/>
        </p:spPr>
        <p:txBody>
          <a:bodyPr wrap="square" lIns="0" tIns="0" rIns="0" bIns="0" rtlCol="0" anchor="t"/>
          <a:lstStyle/>
          <a:p>
            <a:pPr indent="0" marL="0">
              <a:buNone/>
            </a:pPr>
            <a:r>
              <a:rPr lang="en-US" sz="1900" b="1" dirty="0">
                <a:solidFill>
                  <a:srgbClr val="56B4E9"/>
                </a:solidFill>
                <a:latin typeface="Calibri" pitchFamily="34" charset="0"/>
                <a:ea typeface="Calibri" pitchFamily="34" charset="-122"/>
                <a:cs typeface="Calibri" pitchFamily="34" charset="-120"/>
              </a:rPr>
              <a:t>Leading indicators
</a:t>
            </a:r>
            <a:pPr indent="0" marL="0">
              <a:buNone/>
            </a:pPr>
            <a:r>
              <a:rPr lang="en-US" sz="1400" dirty="0">
                <a:solidFill>
                  <a:srgbClr val="DAD5FF"/>
                </a:solidFill>
                <a:latin typeface="Calibri" pitchFamily="34" charset="0"/>
                <a:ea typeface="Calibri" pitchFamily="34" charset="-122"/>
                <a:cs typeface="Calibri" pitchFamily="34" charset="-120"/>
              </a:rPr>
              <a:t>Move in weeks, not 12 months</a:t>
            </a:r>
            <a:endParaRPr lang="en-US" sz="1400" dirty="0"/>
          </a:p>
        </p:txBody>
      </p:sp>
      <p:sp>
        <p:nvSpPr>
          <p:cNvPr id="9" name="Text 7"/>
          <p:cNvSpPr txBox="1"/>
          <p:nvPr/>
        </p:nvSpPr>
        <p:spPr>
          <a:xfrm>
            <a:off x="621792" y="3108960"/>
            <a:ext cx="3310128" cy="2971800"/>
          </a:xfrm>
          <a:prstGeom prst="rect">
            <a:avLst/>
          </a:prstGeom>
          <a:noFill/>
          <a:ln/>
        </p:spPr>
        <p:txBody>
          <a:bodyPr wrap="square" lIns="0" tIns="0" rIns="0" bIns="0" rtlCol="0" anchor="t"/>
          <a:lstStyle/>
          <a:p>
            <a:pPr indent="0" marL="0">
              <a:buNone/>
            </a:pPr>
            <a:r>
              <a:rPr lang="en-US" sz="1550" b="1" dirty="0">
                <a:solidFill>
                  <a:srgbClr val="56B4E9"/>
                </a:solidFill>
                <a:latin typeface="Calibri" pitchFamily="34" charset="0"/>
                <a:ea typeface="Calibri" pitchFamily="34" charset="-122"/>
                <a:cs typeface="Calibri" pitchFamily="34" charset="-120"/>
              </a:rPr>
              <a:t>Wobble-to-continue: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 who open Check-in at a pause or cancel moment and still have an active SIP 30 days later</a:t>
            </a:r>
            <a:endParaRPr lang="en-US" sz="1550" dirty="0"/>
          </a:p>
          <a:p>
            <a:pPr indent="0" marL="0">
              <a:buNone/>
            </a:pPr>
            <a:r>
              <a:rPr lang="en-US" sz="1550" b="1" dirty="0">
                <a:solidFill>
                  <a:srgbClr val="56B4E9"/>
                </a:solidFill>
                <a:latin typeface="Calibri" pitchFamily="34" charset="0"/>
                <a:ea typeface="Calibri" pitchFamily="34" charset="-122"/>
                <a:cs typeface="Calibri" pitchFamily="34" charset="-120"/>
              </a:rPr>
              <a:t>Month-6 survival: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 of the cohort with an active SIP at month 6</a:t>
            </a:r>
            <a:endParaRPr lang="en-US" sz="1550" dirty="0"/>
          </a:p>
          <a:p>
            <a:pPr indent="0" marL="0">
              <a:buNone/>
            </a:pPr>
            <a:r>
              <a:rPr lang="en-US" sz="1550" b="1" dirty="0">
                <a:solidFill>
                  <a:srgbClr val="56B4E9"/>
                </a:solidFill>
                <a:latin typeface="Calibri" pitchFamily="34" charset="0"/>
                <a:ea typeface="Calibri" pitchFamily="34" charset="-122"/>
                <a:cs typeface="Calibri" pitchFamily="34" charset="-120"/>
              </a:rPr>
              <a:t>Middle-path use: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 of SIP changes made by pause or reduce rather than cancel</a:t>
            </a:r>
            <a:endParaRPr lang="en-US" sz="1550" dirty="0"/>
          </a:p>
          <a:p>
            <a:pPr indent="0" marL="0">
              <a:buNone/>
            </a:pPr>
            <a:r>
              <a:rPr lang="en-US" sz="1550" b="1" dirty="0">
                <a:solidFill>
                  <a:srgbClr val="56B4E9"/>
                </a:solidFill>
                <a:latin typeface="Calibri" pitchFamily="34" charset="0"/>
                <a:ea typeface="Calibri" pitchFamily="34" charset="-122"/>
                <a:cs typeface="Calibri" pitchFamily="34" charset="-120"/>
              </a:rPr>
              <a:t>Clarity rate: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 answering yes to 'did this make things clearer?' (goal 70%+)</a:t>
            </a:r>
            <a:endParaRPr lang="en-US" sz="1550" dirty="0"/>
          </a:p>
        </p:txBody>
      </p:sp>
      <p:sp>
        <p:nvSpPr>
          <p:cNvPr id="10" name="metrics-col-2"/>
          <p:cNvSpPr/>
          <p:nvPr/>
        </p:nvSpPr>
        <p:spPr>
          <a:xfrm>
            <a:off x="4279392" y="2331720"/>
            <a:ext cx="3639312" cy="3794760"/>
          </a:xfrm>
          <a:prstGeom prst="roundRect">
            <a:avLst>
              <a:gd name="adj" fmla="val 4523"/>
            </a:avLst>
          </a:prstGeom>
          <a:solidFill>
            <a:srgbClr val="251D70"/>
          </a:solidFill>
          <a:ln w="25400">
            <a:solidFill>
              <a:srgbClr val="FFB000"/>
            </a:solidFill>
            <a:prstDash val="solid"/>
          </a:ln>
        </p:spPr>
      </p:sp>
      <p:sp>
        <p:nvSpPr>
          <p:cNvPr id="11" name="Text 9"/>
          <p:cNvSpPr txBox="1"/>
          <p:nvPr/>
        </p:nvSpPr>
        <p:spPr>
          <a:xfrm>
            <a:off x="4443984" y="2395728"/>
            <a:ext cx="3310128" cy="640080"/>
          </a:xfrm>
          <a:prstGeom prst="rect">
            <a:avLst/>
          </a:prstGeom>
          <a:noFill/>
          <a:ln/>
        </p:spPr>
        <p:txBody>
          <a:bodyPr wrap="square" lIns="0" tIns="0" rIns="0" bIns="0" rtlCol="0" anchor="t"/>
          <a:lstStyle/>
          <a:p>
            <a:pPr indent="0" marL="0">
              <a:buNone/>
            </a:pPr>
            <a:r>
              <a:rPr lang="en-US" sz="1900" b="1" dirty="0">
                <a:solidFill>
                  <a:srgbClr val="FFB000"/>
                </a:solidFill>
                <a:latin typeface="Calibri" pitchFamily="34" charset="0"/>
                <a:ea typeface="Calibri" pitchFamily="34" charset="-122"/>
                <a:cs typeface="Calibri" pitchFamily="34" charset="-120"/>
              </a:rPr>
              <a:t>Guardrails
</a:t>
            </a:r>
            <a:pPr indent="0" marL="0">
              <a:buNone/>
            </a:pPr>
            <a:r>
              <a:rPr lang="en-US" sz="1400" dirty="0">
                <a:solidFill>
                  <a:srgbClr val="DAD5FF"/>
                </a:solidFill>
                <a:latin typeface="Calibri" pitchFamily="34" charset="0"/>
                <a:ea typeface="Calibri" pitchFamily="34" charset="-122"/>
                <a:cs typeface="Calibri" pitchFamily="34" charset="-120"/>
              </a:rPr>
              <a:t>Make sure we do no harm</a:t>
            </a:r>
            <a:endParaRPr lang="en-US" sz="1400" dirty="0"/>
          </a:p>
        </p:txBody>
      </p:sp>
      <p:sp>
        <p:nvSpPr>
          <p:cNvPr id="12" name="Text 10"/>
          <p:cNvSpPr txBox="1"/>
          <p:nvPr/>
        </p:nvSpPr>
        <p:spPr>
          <a:xfrm>
            <a:off x="4443984" y="3108960"/>
            <a:ext cx="3310128" cy="2971800"/>
          </a:xfrm>
          <a:prstGeom prst="rect">
            <a:avLst/>
          </a:prstGeom>
          <a:noFill/>
          <a:ln/>
        </p:spPr>
        <p:txBody>
          <a:bodyPr wrap="square" lIns="0" tIns="0" rIns="0" bIns="0" rtlCol="0" anchor="t"/>
          <a:lstStyle/>
          <a:p>
            <a:pPr indent="0" marL="0">
              <a:buNone/>
            </a:pPr>
            <a:r>
              <a:rPr lang="en-US" sz="1550" b="1" dirty="0">
                <a:solidFill>
                  <a:srgbClr val="FFB000"/>
                </a:solidFill>
                <a:latin typeface="Calibri" pitchFamily="34" charset="0"/>
                <a:ea typeface="Calibri" pitchFamily="34" charset="-122"/>
                <a:cs typeface="Calibri" pitchFamily="34" charset="-120"/>
              </a:rPr>
              <a:t>Advice language: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0 advice or return-prediction phrases per 1,000 outputs</a:t>
            </a:r>
            <a:endParaRPr lang="en-US" sz="1550" dirty="0"/>
          </a:p>
          <a:p>
            <a:pPr indent="0" marL="0">
              <a:buNone/>
            </a:pPr>
            <a:r>
              <a:rPr lang="en-US" sz="1550" b="1" dirty="0">
                <a:solidFill>
                  <a:srgbClr val="FFB000"/>
                </a:solidFill>
                <a:latin typeface="Calibri" pitchFamily="34" charset="0"/>
                <a:ea typeface="Calibri" pitchFamily="34" charset="-122"/>
                <a:cs typeface="Calibri" pitchFamily="34" charset="-120"/>
              </a:rPr>
              <a:t>Cancel stays easy: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cancel rate and time to cancel not worse than control</a:t>
            </a:r>
            <a:endParaRPr lang="en-US" sz="1550" dirty="0"/>
          </a:p>
          <a:p>
            <a:pPr indent="0" marL="0">
              <a:buNone/>
            </a:pPr>
            <a:r>
              <a:rPr lang="en-US" sz="1550" b="1" dirty="0">
                <a:solidFill>
                  <a:srgbClr val="FFB000"/>
                </a:solidFill>
                <a:latin typeface="Calibri" pitchFamily="34" charset="0"/>
                <a:ea typeface="Calibri" pitchFamily="34" charset="-122"/>
                <a:cs typeface="Calibri" pitchFamily="34" charset="-120"/>
              </a:rPr>
              <a:t>Support load: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contacts and complaints do not rise</a:t>
            </a:r>
            <a:endParaRPr lang="en-US" sz="1550" dirty="0"/>
          </a:p>
          <a:p>
            <a:pPr indent="0" marL="0">
              <a:buNone/>
            </a:pPr>
            <a:r>
              <a:rPr lang="en-US" sz="1550" b="1" dirty="0">
                <a:solidFill>
                  <a:srgbClr val="FFB000"/>
                </a:solidFill>
                <a:latin typeface="Calibri" pitchFamily="34" charset="0"/>
                <a:ea typeface="Calibri" pitchFamily="34" charset="-122"/>
                <a:cs typeface="Calibri" pitchFamily="34" charset="-120"/>
              </a:rPr>
              <a:t>No pressure: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average SIP amount not pushed up by the feature</a:t>
            </a:r>
            <a:endParaRPr lang="en-US" sz="1550" dirty="0"/>
          </a:p>
        </p:txBody>
      </p:sp>
      <p:sp>
        <p:nvSpPr>
          <p:cNvPr id="13" name="metrics-col-3"/>
          <p:cNvSpPr/>
          <p:nvPr/>
        </p:nvSpPr>
        <p:spPr>
          <a:xfrm>
            <a:off x="8101584" y="2331720"/>
            <a:ext cx="3639312" cy="3794760"/>
          </a:xfrm>
          <a:prstGeom prst="roundRect">
            <a:avLst>
              <a:gd name="adj" fmla="val 4523"/>
            </a:avLst>
          </a:prstGeom>
          <a:solidFill>
            <a:srgbClr val="251D70"/>
          </a:solidFill>
          <a:ln w="25400">
            <a:solidFill>
              <a:srgbClr val="3DDBB0"/>
            </a:solidFill>
            <a:prstDash val="solid"/>
          </a:ln>
        </p:spPr>
      </p:sp>
      <p:sp>
        <p:nvSpPr>
          <p:cNvPr id="14" name="Text 12"/>
          <p:cNvSpPr txBox="1"/>
          <p:nvPr/>
        </p:nvSpPr>
        <p:spPr>
          <a:xfrm>
            <a:off x="8266176" y="2395728"/>
            <a:ext cx="3310128" cy="640080"/>
          </a:xfrm>
          <a:prstGeom prst="rect">
            <a:avLst/>
          </a:prstGeom>
          <a:noFill/>
          <a:ln/>
        </p:spPr>
        <p:txBody>
          <a:bodyPr wrap="square" lIns="0" tIns="0" rIns="0" bIns="0" rtlCol="0" anchor="t"/>
          <a:lstStyle/>
          <a:p>
            <a:pPr indent="0" marL="0">
              <a:buNone/>
            </a:pPr>
            <a:r>
              <a:rPr lang="en-US" sz="1900" b="1" dirty="0">
                <a:solidFill>
                  <a:srgbClr val="3DDBB0"/>
                </a:solidFill>
                <a:latin typeface="Calibri" pitchFamily="34" charset="0"/>
                <a:ea typeface="Calibri" pitchFamily="34" charset="-122"/>
                <a:cs typeface="Calibri" pitchFamily="34" charset="-120"/>
              </a:rPr>
              <a:t>AI output quality
</a:t>
            </a:r>
            <a:pPr indent="0" marL="0">
              <a:buNone/>
            </a:pPr>
            <a:r>
              <a:rPr lang="en-US" sz="1400" dirty="0">
                <a:solidFill>
                  <a:srgbClr val="DAD5FF"/>
                </a:solidFill>
                <a:latin typeface="Calibri" pitchFamily="34" charset="0"/>
                <a:ea typeface="Calibri" pitchFamily="34" charset="-122"/>
                <a:cs typeface="Calibri" pitchFamily="34" charset="-120"/>
              </a:rPr>
              <a:t>Measured on the golden set, weekly</a:t>
            </a:r>
            <a:endParaRPr lang="en-US" sz="1400" dirty="0"/>
          </a:p>
        </p:txBody>
      </p:sp>
      <p:sp>
        <p:nvSpPr>
          <p:cNvPr id="15" name="Text 13"/>
          <p:cNvSpPr txBox="1"/>
          <p:nvPr/>
        </p:nvSpPr>
        <p:spPr>
          <a:xfrm>
            <a:off x="8266176" y="3108960"/>
            <a:ext cx="3310128" cy="2971800"/>
          </a:xfrm>
          <a:prstGeom prst="rect">
            <a:avLst/>
          </a:prstGeom>
          <a:noFill/>
          <a:ln/>
        </p:spPr>
        <p:txBody>
          <a:bodyPr wrap="square" lIns="0" tIns="0" rIns="0" bIns="0" rtlCol="0" anchor="t"/>
          <a:lstStyle/>
          <a:p>
            <a:pPr indent="0" marL="0">
              <a:buNone/>
            </a:pPr>
            <a:r>
              <a:rPr lang="en-US" sz="1550" b="1" dirty="0">
                <a:solidFill>
                  <a:srgbClr val="3DDBB0"/>
                </a:solidFill>
                <a:latin typeface="Calibri" pitchFamily="34" charset="0"/>
                <a:ea typeface="Calibri" pitchFamily="34" charset="-122"/>
                <a:cs typeface="Calibri" pitchFamily="34" charset="-120"/>
              </a:rPr>
              <a:t>Grounded: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95%+ of claims supported by cited sources (today 11 of 12 answers)</a:t>
            </a:r>
            <a:endParaRPr lang="en-US" sz="1550" dirty="0"/>
          </a:p>
          <a:p>
            <a:pPr indent="0" marL="0">
              <a:buNone/>
            </a:pPr>
            <a:r>
              <a:rPr lang="en-US" sz="1550" b="1" dirty="0">
                <a:solidFill>
                  <a:srgbClr val="3DDBB0"/>
                </a:solidFill>
                <a:latin typeface="Calibri" pitchFamily="34" charset="0"/>
                <a:ea typeface="Calibri" pitchFamily="34" charset="-122"/>
                <a:cs typeface="Calibri" pitchFamily="34" charset="-120"/>
              </a:rPr>
              <a:t>Retrieval precision@5: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75%+ (today 43 to 78% across runs)</a:t>
            </a:r>
            <a:endParaRPr lang="en-US" sz="1550" dirty="0"/>
          </a:p>
          <a:p>
            <a:pPr indent="0" marL="0">
              <a:buNone/>
            </a:pPr>
            <a:r>
              <a:rPr lang="en-US" sz="1550" b="1" dirty="0">
                <a:solidFill>
                  <a:srgbClr val="3DDBB0"/>
                </a:solidFill>
                <a:latin typeface="Calibri" pitchFamily="34" charset="0"/>
                <a:ea typeface="Calibri" pitchFamily="34" charset="-122"/>
                <a:cs typeface="Calibri" pitchFamily="34" charset="-120"/>
              </a:rPr>
              <a:t>Label agreement: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85%+ relevance, 70%+ reason and need (hand labels pending)</a:t>
            </a:r>
            <a:endParaRPr lang="en-US" sz="1550" dirty="0"/>
          </a:p>
          <a:p>
            <a:pPr indent="0" marL="0">
              <a:buNone/>
            </a:pPr>
            <a:r>
              <a:rPr lang="en-US" sz="1550" b="1" dirty="0">
                <a:solidFill>
                  <a:srgbClr val="3DDBB0"/>
                </a:solidFill>
                <a:latin typeface="Calibri" pitchFamily="34" charset="0"/>
                <a:ea typeface="Calibri" pitchFamily="34" charset="-122"/>
                <a:cs typeface="Calibri" pitchFamily="34" charset="-120"/>
              </a:rPr>
              <a:t>Safe fallback: </a:t>
            </a:r>
            <a:pPr indent="0" marL="0">
              <a:spcAft>
                <a:spcPts val="500"/>
              </a:spcAft>
              <a:buNone/>
            </a:pPr>
            <a:r>
              <a:rPr lang="en-US" sz="1550" dirty="0">
                <a:solidFill>
                  <a:srgbClr val="FFFFFF"/>
                </a:solidFill>
                <a:latin typeface="Calibri" pitchFamily="34" charset="0"/>
                <a:ea typeface="Calibri" pitchFamily="34" charset="-122"/>
                <a:cs typeface="Calibri" pitchFamily="34" charset="-120"/>
              </a:rPr>
              <a:t>100% refusal on advice and injection tests (today 19/19)</a:t>
            </a:r>
            <a:endParaRPr lang="en-US" sz="1550" dirty="0"/>
          </a:p>
        </p:txBody>
      </p:sp>
      <p:sp>
        <p:nvSpPr>
          <p:cNvPr id="16" name="Text 14"/>
          <p:cNvSpPr txBox="1"/>
          <p:nvPr/>
        </p:nvSpPr>
        <p:spPr>
          <a:xfrm>
            <a:off x="457200" y="6217920"/>
            <a:ext cx="11247120" cy="41148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Each leading metric sits on the path to the north star; each guardrail guards a way the feature could hurt investors.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Risks: advice drift, wrong answers and pressure nudges matter most, and each has a built-in safeguard</a:t>
            </a:r>
            <a:endParaRPr lang="en-US" sz="2700" dirty="0"/>
          </a:p>
        </p:txBody>
      </p:sp>
      <p:sp>
        <p:nvSpPr>
          <p:cNvPr id="5" name="risk-1"/>
          <p:cNvSpPr/>
          <p:nvPr/>
        </p:nvSpPr>
        <p:spPr>
          <a:xfrm>
            <a:off x="457200" y="1371600"/>
            <a:ext cx="3639312" cy="2267712"/>
          </a:xfrm>
          <a:prstGeom prst="roundRect">
            <a:avLst>
              <a:gd name="adj" fmla="val 7258"/>
            </a:avLst>
          </a:prstGeom>
          <a:solidFill>
            <a:srgbClr val="251D70"/>
          </a:solidFill>
          <a:ln w="25400">
            <a:solidFill>
              <a:srgbClr val="56B4E9"/>
            </a:solidFill>
            <a:prstDash val="solid"/>
          </a:ln>
        </p:spPr>
      </p:sp>
      <p:sp>
        <p:nvSpPr>
          <p:cNvPr id="6" name="badge-1"/>
          <p:cNvSpPr/>
          <p:nvPr/>
        </p:nvSpPr>
        <p:spPr>
          <a:xfrm>
            <a:off x="594360" y="1490472"/>
            <a:ext cx="402336" cy="402336"/>
          </a:xfrm>
          <a:prstGeom prst="ellipse">
            <a:avLst/>
          </a:prstGeom>
          <a:solidFill>
            <a:srgbClr val="56B4E9"/>
          </a:solidFill>
          <a:ln w="12700">
            <a:solidFill>
              <a:srgbClr val="56B4E9"/>
            </a:solidFill>
            <a:prstDash val="solid"/>
          </a:ln>
        </p:spPr>
      </p:sp>
      <p:sp>
        <p:nvSpPr>
          <p:cNvPr id="7" name="Text 5"/>
          <p:cNvSpPr txBox="1"/>
          <p:nvPr/>
        </p:nvSpPr>
        <p:spPr>
          <a:xfrm>
            <a:off x="594360" y="149047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115568" y="1444752"/>
            <a:ext cx="2862072" cy="502920"/>
          </a:xfrm>
          <a:prstGeom prst="rect">
            <a:avLst/>
          </a:prstGeom>
          <a:noFill/>
          <a:ln/>
        </p:spPr>
        <p:txBody>
          <a:bodyPr wrap="square" lIns="0" tIns="0" rIns="0" bIns="0" rtlCol="0" anchor="ctr"/>
          <a:lstStyle/>
          <a:p>
            <a:pPr indent="0" marL="0">
              <a:buNone/>
            </a:pPr>
            <a:r>
              <a:rPr lang="en-US" sz="1600" b="1" dirty="0">
                <a:solidFill>
                  <a:srgbClr val="56B4E9"/>
                </a:solidFill>
                <a:latin typeface="Calibri" pitchFamily="34" charset="0"/>
                <a:ea typeface="Calibri" pitchFamily="34" charset="-122"/>
                <a:cs typeface="Calibri" pitchFamily="34" charset="-120"/>
              </a:rPr>
              <a:t>Read as investment advice</a:t>
            </a:r>
            <a:endParaRPr lang="en-US" sz="1600" dirty="0"/>
          </a:p>
        </p:txBody>
      </p:sp>
      <p:sp>
        <p:nvSpPr>
          <p:cNvPr id="9" name="Text 7"/>
          <p:cNvSpPr txBox="1"/>
          <p:nvPr/>
        </p:nvSpPr>
        <p:spPr>
          <a:xfrm>
            <a:off x="640080" y="2057400"/>
            <a:ext cx="3273552" cy="1490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Mitigation: </a:t>
            </a:r>
            <a:pPr indent="0" marL="0">
              <a:buNone/>
            </a:pPr>
            <a:r>
              <a:rPr lang="en-US" sz="1600" dirty="0">
                <a:solidFill>
                  <a:srgbClr val="DAD5FF"/>
                </a:solidFill>
                <a:latin typeface="Calibri" pitchFamily="34" charset="0"/>
                <a:ea typeface="Calibri" pitchFamily="34" charset="-122"/>
                <a:cs typeface="Calibri" pitchFamily="34" charset="-120"/>
              </a:rPr>
              <a:t>No fund or stock names, no return predictions, 'not advice' on every output, refusal tests, legal review before launch.</a:t>
            </a:r>
            <a:endParaRPr lang="en-US" sz="1600" dirty="0"/>
          </a:p>
        </p:txBody>
      </p:sp>
      <p:sp>
        <p:nvSpPr>
          <p:cNvPr id="10" name="risk-2"/>
          <p:cNvSpPr/>
          <p:nvPr/>
        </p:nvSpPr>
        <p:spPr>
          <a:xfrm>
            <a:off x="4279392" y="1371600"/>
            <a:ext cx="3639312" cy="2267712"/>
          </a:xfrm>
          <a:prstGeom prst="roundRect">
            <a:avLst>
              <a:gd name="adj" fmla="val 7258"/>
            </a:avLst>
          </a:prstGeom>
          <a:solidFill>
            <a:srgbClr val="251D70"/>
          </a:solidFill>
          <a:ln w="25400">
            <a:solidFill>
              <a:srgbClr val="FFB000"/>
            </a:solidFill>
            <a:prstDash val="solid"/>
          </a:ln>
        </p:spPr>
      </p:sp>
      <p:sp>
        <p:nvSpPr>
          <p:cNvPr id="11" name="badge-2"/>
          <p:cNvSpPr/>
          <p:nvPr/>
        </p:nvSpPr>
        <p:spPr>
          <a:xfrm>
            <a:off x="4416552" y="1490472"/>
            <a:ext cx="402336" cy="402336"/>
          </a:xfrm>
          <a:prstGeom prst="ellipse">
            <a:avLst/>
          </a:prstGeom>
          <a:solidFill>
            <a:srgbClr val="FFB000"/>
          </a:solidFill>
          <a:ln w="12700">
            <a:solidFill>
              <a:srgbClr val="FFB000"/>
            </a:solidFill>
            <a:prstDash val="solid"/>
          </a:ln>
        </p:spPr>
      </p:sp>
      <p:sp>
        <p:nvSpPr>
          <p:cNvPr id="12" name="Text 10"/>
          <p:cNvSpPr txBox="1"/>
          <p:nvPr/>
        </p:nvSpPr>
        <p:spPr>
          <a:xfrm>
            <a:off x="4416552" y="149047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937760" y="1444752"/>
            <a:ext cx="2862072" cy="502920"/>
          </a:xfrm>
          <a:prstGeom prst="rect">
            <a:avLst/>
          </a:prstGeom>
          <a:noFill/>
          <a:ln/>
        </p:spPr>
        <p:txBody>
          <a:bodyPr wrap="square" lIns="0" tIns="0" rIns="0" bIns="0" rtlCol="0" anchor="ctr"/>
          <a:lstStyle/>
          <a:p>
            <a:pPr indent="0" marL="0">
              <a:buNone/>
            </a:pPr>
            <a:r>
              <a:rPr lang="en-US" sz="1600" b="1" dirty="0">
                <a:solidFill>
                  <a:srgbClr val="FFB000"/>
                </a:solidFill>
                <a:latin typeface="Calibri" pitchFamily="34" charset="0"/>
                <a:ea typeface="Calibri" pitchFamily="34" charset="-122"/>
                <a:cs typeface="Calibri" pitchFamily="34" charset="-120"/>
              </a:rPr>
              <a:t>Wrong or invented answers</a:t>
            </a:r>
            <a:endParaRPr lang="en-US" sz="1600" dirty="0"/>
          </a:p>
        </p:txBody>
      </p:sp>
      <p:sp>
        <p:nvSpPr>
          <p:cNvPr id="14" name="Text 12"/>
          <p:cNvSpPr txBox="1"/>
          <p:nvPr/>
        </p:nvSpPr>
        <p:spPr>
          <a:xfrm>
            <a:off x="4462272" y="2057400"/>
            <a:ext cx="3273552" cy="1490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Mitigation: </a:t>
            </a:r>
            <a:pPr indent="0" marL="0">
              <a:buNone/>
            </a:pPr>
            <a:r>
              <a:rPr lang="en-US" sz="1600" dirty="0">
                <a:solidFill>
                  <a:srgbClr val="DAD5FF"/>
                </a:solidFill>
                <a:latin typeface="Calibri" pitchFamily="34" charset="0"/>
                <a:ea typeface="Calibri" pitchFamily="34" charset="-122"/>
                <a:cs typeface="Calibri" pitchFamily="34" charset="-120"/>
              </a:rPr>
              <a:t>Answers only from retrieved sources, numbers checked by code, golden-set release gate, failed checks fall back to AMFI and SEBI links, kill switch.</a:t>
            </a:r>
            <a:endParaRPr lang="en-US" sz="1600" dirty="0"/>
          </a:p>
        </p:txBody>
      </p:sp>
      <p:sp>
        <p:nvSpPr>
          <p:cNvPr id="15" name="risk-3"/>
          <p:cNvSpPr/>
          <p:nvPr/>
        </p:nvSpPr>
        <p:spPr>
          <a:xfrm>
            <a:off x="8101584" y="1371600"/>
            <a:ext cx="3639312" cy="2267712"/>
          </a:xfrm>
          <a:prstGeom prst="roundRect">
            <a:avLst>
              <a:gd name="adj" fmla="val 7258"/>
            </a:avLst>
          </a:prstGeom>
          <a:solidFill>
            <a:srgbClr val="251D70"/>
          </a:solidFill>
          <a:ln w="25400">
            <a:solidFill>
              <a:srgbClr val="F08DC0"/>
            </a:solidFill>
            <a:prstDash val="solid"/>
          </a:ln>
        </p:spPr>
      </p:sp>
      <p:sp>
        <p:nvSpPr>
          <p:cNvPr id="16" name="badge-3"/>
          <p:cNvSpPr/>
          <p:nvPr/>
        </p:nvSpPr>
        <p:spPr>
          <a:xfrm>
            <a:off x="8238744" y="1490472"/>
            <a:ext cx="402336" cy="402336"/>
          </a:xfrm>
          <a:prstGeom prst="ellipse">
            <a:avLst/>
          </a:prstGeom>
          <a:solidFill>
            <a:srgbClr val="F08DC0"/>
          </a:solidFill>
          <a:ln w="12700">
            <a:solidFill>
              <a:srgbClr val="F08DC0"/>
            </a:solidFill>
            <a:prstDash val="solid"/>
          </a:ln>
        </p:spPr>
      </p:sp>
      <p:sp>
        <p:nvSpPr>
          <p:cNvPr id="17" name="Text 15"/>
          <p:cNvSpPr txBox="1"/>
          <p:nvPr/>
        </p:nvSpPr>
        <p:spPr>
          <a:xfrm>
            <a:off x="8238744" y="149047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8759952" y="1444752"/>
            <a:ext cx="2862072" cy="502920"/>
          </a:xfrm>
          <a:prstGeom prst="rect">
            <a:avLst/>
          </a:prstGeom>
          <a:noFill/>
          <a:ln/>
        </p:spPr>
        <p:txBody>
          <a:bodyPr wrap="square" lIns="0" tIns="0" rIns="0" bIns="0" rtlCol="0" anchor="ctr"/>
          <a:lstStyle/>
          <a:p>
            <a:pPr indent="0" marL="0">
              <a:buNone/>
            </a:pPr>
            <a:r>
              <a:rPr lang="en-US" sz="1600" b="1" dirty="0">
                <a:solidFill>
                  <a:srgbClr val="F08DC0"/>
                </a:solidFill>
                <a:latin typeface="Calibri" pitchFamily="34" charset="0"/>
                <a:ea typeface="Calibri" pitchFamily="34" charset="-122"/>
                <a:cs typeface="Calibri" pitchFamily="34" charset="-120"/>
              </a:rPr>
              <a:t>Retention pressure harms people who need cash</a:t>
            </a:r>
            <a:endParaRPr lang="en-US" sz="1600" dirty="0"/>
          </a:p>
        </p:txBody>
      </p:sp>
      <p:sp>
        <p:nvSpPr>
          <p:cNvPr id="19" name="Text 17"/>
          <p:cNvSpPr txBox="1"/>
          <p:nvPr/>
        </p:nvSpPr>
        <p:spPr>
          <a:xfrm>
            <a:off x="8284464" y="2057400"/>
            <a:ext cx="3273552" cy="1490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Mitigation: </a:t>
            </a:r>
            <a:pPr indent="0" marL="0">
              <a:buNone/>
            </a:pPr>
            <a:r>
              <a:rPr lang="en-US" sz="1600" dirty="0">
                <a:solidFill>
                  <a:srgbClr val="DAD5FF"/>
                </a:solidFill>
                <a:latin typeface="Calibri" pitchFamily="34" charset="0"/>
                <a:ea typeface="Calibri" pitchFamily="34" charset="-122"/>
                <a:cs typeface="Calibri" pitchFamily="34" charset="-120"/>
              </a:rPr>
              <a:t>No urgency or fear. Pause, reduce and cancel stay one tap away. Guardrail on cancel rate and time.</a:t>
            </a:r>
            <a:endParaRPr lang="en-US" sz="1600" dirty="0"/>
          </a:p>
        </p:txBody>
      </p:sp>
      <p:sp>
        <p:nvSpPr>
          <p:cNvPr id="20" name="risk-4"/>
          <p:cNvSpPr/>
          <p:nvPr/>
        </p:nvSpPr>
        <p:spPr>
          <a:xfrm>
            <a:off x="457200" y="3767328"/>
            <a:ext cx="3639312" cy="2267712"/>
          </a:xfrm>
          <a:prstGeom prst="roundRect">
            <a:avLst>
              <a:gd name="adj" fmla="val 7258"/>
            </a:avLst>
          </a:prstGeom>
          <a:solidFill>
            <a:srgbClr val="251D70"/>
          </a:solidFill>
          <a:ln w="25400">
            <a:solidFill>
              <a:srgbClr val="3DDBB0"/>
            </a:solidFill>
            <a:prstDash val="solid"/>
          </a:ln>
        </p:spPr>
      </p:sp>
      <p:sp>
        <p:nvSpPr>
          <p:cNvPr id="21" name="badge-4"/>
          <p:cNvSpPr/>
          <p:nvPr/>
        </p:nvSpPr>
        <p:spPr>
          <a:xfrm>
            <a:off x="594360" y="3886200"/>
            <a:ext cx="402336" cy="402336"/>
          </a:xfrm>
          <a:prstGeom prst="ellipse">
            <a:avLst/>
          </a:prstGeom>
          <a:solidFill>
            <a:srgbClr val="3DDBB0"/>
          </a:solidFill>
          <a:ln w="12700">
            <a:solidFill>
              <a:srgbClr val="3DDBB0"/>
            </a:solidFill>
            <a:prstDash val="solid"/>
          </a:ln>
        </p:spPr>
      </p:sp>
      <p:sp>
        <p:nvSpPr>
          <p:cNvPr id="22" name="Text 20"/>
          <p:cNvSpPr txBox="1"/>
          <p:nvPr/>
        </p:nvSpPr>
        <p:spPr>
          <a:xfrm>
            <a:off x="594360" y="3886200"/>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4</a:t>
            </a:r>
            <a:endParaRPr lang="en-US" sz="1800" dirty="0"/>
          </a:p>
        </p:txBody>
      </p:sp>
      <p:sp>
        <p:nvSpPr>
          <p:cNvPr id="23" name="Text 21"/>
          <p:cNvSpPr txBox="1"/>
          <p:nvPr/>
        </p:nvSpPr>
        <p:spPr>
          <a:xfrm>
            <a:off x="1115568" y="3840480"/>
            <a:ext cx="2862072" cy="502920"/>
          </a:xfrm>
          <a:prstGeom prst="rect">
            <a:avLst/>
          </a:prstGeom>
          <a:noFill/>
          <a:ln/>
        </p:spPr>
        <p:txBody>
          <a:bodyPr wrap="square" lIns="0" tIns="0" rIns="0" bIns="0" rtlCol="0" anchor="ctr"/>
          <a:lstStyle/>
          <a:p>
            <a:pPr indent="0" marL="0">
              <a:buNone/>
            </a:pPr>
            <a:r>
              <a:rPr lang="en-US" sz="1600" b="1" dirty="0">
                <a:solidFill>
                  <a:srgbClr val="3DDBB0"/>
                </a:solidFill>
                <a:latin typeface="Calibri" pitchFamily="34" charset="0"/>
                <a:ea typeface="Calibri" pitchFamily="34" charset="-122"/>
                <a:cs typeface="Calibri" pitchFamily="34" charset="-120"/>
              </a:rPr>
              <a:t>Biased evidence</a:t>
            </a:r>
            <a:endParaRPr lang="en-US" sz="1600" dirty="0"/>
          </a:p>
        </p:txBody>
      </p:sp>
      <p:sp>
        <p:nvSpPr>
          <p:cNvPr id="24" name="Text 22"/>
          <p:cNvSpPr txBox="1"/>
          <p:nvPr/>
        </p:nvSpPr>
        <p:spPr>
          <a:xfrm>
            <a:off x="640080" y="4453128"/>
            <a:ext cx="3273552" cy="1490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Mitigation: </a:t>
            </a:r>
            <a:pPr indent="0" marL="0">
              <a:buNone/>
            </a:pPr>
            <a:r>
              <a:rPr lang="en-US" sz="1600" dirty="0">
                <a:solidFill>
                  <a:srgbClr val="DAD5FF"/>
                </a:solidFill>
                <a:latin typeface="Calibri" pitchFamily="34" charset="0"/>
                <a:ea typeface="Calibri" pitchFamily="34" charset="-122"/>
                <a:cs typeface="Calibri" pitchFamily="34" charset="-120"/>
              </a:rPr>
              <a:t>Public posts skew to vocal, experienced users and miss silent lapsers. Add 5 to 6 interviews and Groww cohort data, state the bias, A/B test against control.</a:t>
            </a:r>
            <a:endParaRPr lang="en-US" sz="1600" dirty="0"/>
          </a:p>
        </p:txBody>
      </p:sp>
      <p:sp>
        <p:nvSpPr>
          <p:cNvPr id="25" name="risk-5"/>
          <p:cNvSpPr/>
          <p:nvPr/>
        </p:nvSpPr>
        <p:spPr>
          <a:xfrm>
            <a:off x="4279392" y="3767328"/>
            <a:ext cx="3639312" cy="2267712"/>
          </a:xfrm>
          <a:prstGeom prst="roundRect">
            <a:avLst>
              <a:gd name="adj" fmla="val 7258"/>
            </a:avLst>
          </a:prstGeom>
          <a:solidFill>
            <a:srgbClr val="251D70"/>
          </a:solidFill>
          <a:ln w="25400">
            <a:solidFill>
              <a:srgbClr val="F0E442"/>
            </a:solidFill>
            <a:prstDash val="solid"/>
          </a:ln>
        </p:spPr>
      </p:sp>
      <p:sp>
        <p:nvSpPr>
          <p:cNvPr id="26" name="badge-5"/>
          <p:cNvSpPr/>
          <p:nvPr/>
        </p:nvSpPr>
        <p:spPr>
          <a:xfrm>
            <a:off x="4416552" y="3886200"/>
            <a:ext cx="402336" cy="402336"/>
          </a:xfrm>
          <a:prstGeom prst="ellipse">
            <a:avLst/>
          </a:prstGeom>
          <a:solidFill>
            <a:srgbClr val="F0E442"/>
          </a:solidFill>
          <a:ln w="12700">
            <a:solidFill>
              <a:srgbClr val="F0E442"/>
            </a:solidFill>
            <a:prstDash val="solid"/>
          </a:ln>
        </p:spPr>
      </p:sp>
      <p:sp>
        <p:nvSpPr>
          <p:cNvPr id="27" name="Text 25"/>
          <p:cNvSpPr txBox="1"/>
          <p:nvPr/>
        </p:nvSpPr>
        <p:spPr>
          <a:xfrm>
            <a:off x="4416552" y="3886200"/>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5</a:t>
            </a:r>
            <a:endParaRPr lang="en-US" sz="1800" dirty="0"/>
          </a:p>
        </p:txBody>
      </p:sp>
      <p:sp>
        <p:nvSpPr>
          <p:cNvPr id="28" name="Text 26"/>
          <p:cNvSpPr txBox="1"/>
          <p:nvPr/>
        </p:nvSpPr>
        <p:spPr>
          <a:xfrm>
            <a:off x="4937760" y="3840480"/>
            <a:ext cx="2862072" cy="502920"/>
          </a:xfrm>
          <a:prstGeom prst="rect">
            <a:avLst/>
          </a:prstGeom>
          <a:noFill/>
          <a:ln/>
        </p:spPr>
        <p:txBody>
          <a:bodyPr wrap="square" lIns="0" tIns="0" rIns="0" bIns="0" rtlCol="0" anchor="ctr"/>
          <a:lstStyle/>
          <a:p>
            <a:pPr indent="0" marL="0">
              <a:buNone/>
            </a:pPr>
            <a:r>
              <a:rPr lang="en-US" sz="1600" b="1" dirty="0">
                <a:solidFill>
                  <a:srgbClr val="F0E442"/>
                </a:solidFill>
                <a:latin typeface="Calibri" pitchFamily="34" charset="0"/>
                <a:ea typeface="Calibri" pitchFamily="34" charset="-122"/>
                <a:cs typeface="Calibri" pitchFamily="34" charset="-120"/>
              </a:rPr>
              <a:t>Low adoption or extra friction</a:t>
            </a:r>
            <a:endParaRPr lang="en-US" sz="1600" dirty="0"/>
          </a:p>
        </p:txBody>
      </p:sp>
      <p:sp>
        <p:nvSpPr>
          <p:cNvPr id="29" name="Text 27"/>
          <p:cNvSpPr txBox="1"/>
          <p:nvPr/>
        </p:nvSpPr>
        <p:spPr>
          <a:xfrm>
            <a:off x="4462272" y="4453128"/>
            <a:ext cx="3273552" cy="1490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Mitigation: </a:t>
            </a:r>
            <a:pPr indent="0" marL="0">
              <a:buNone/>
            </a:pPr>
            <a:r>
              <a:rPr lang="en-US" sz="1600" dirty="0">
                <a:solidFill>
                  <a:srgbClr val="DAD5FF"/>
                </a:solidFill>
                <a:latin typeface="Calibri" pitchFamily="34" charset="0"/>
                <a:ea typeface="Calibri" pitchFamily="34" charset="-122"/>
                <a:cs typeface="Calibri" pitchFamily="34" charset="-120"/>
              </a:rPr>
              <a:t>Show only at wobble moments, test wording, track opens and drop-off, never block the flow.</a:t>
            </a:r>
            <a:endParaRPr lang="en-US" sz="1600" dirty="0"/>
          </a:p>
        </p:txBody>
      </p:sp>
      <p:sp>
        <p:nvSpPr>
          <p:cNvPr id="30" name="risk-6"/>
          <p:cNvSpPr/>
          <p:nvPr/>
        </p:nvSpPr>
        <p:spPr>
          <a:xfrm>
            <a:off x="8101584" y="3767328"/>
            <a:ext cx="3639312" cy="2267712"/>
          </a:xfrm>
          <a:prstGeom prst="roundRect">
            <a:avLst>
              <a:gd name="adj" fmla="val 7258"/>
            </a:avLst>
          </a:prstGeom>
          <a:solidFill>
            <a:srgbClr val="251D70"/>
          </a:solidFill>
          <a:ln w="25400">
            <a:solidFill>
              <a:srgbClr val="56B4E9"/>
            </a:solidFill>
            <a:prstDash val="solid"/>
          </a:ln>
        </p:spPr>
      </p:sp>
      <p:sp>
        <p:nvSpPr>
          <p:cNvPr id="31" name="badge-6"/>
          <p:cNvSpPr/>
          <p:nvPr/>
        </p:nvSpPr>
        <p:spPr>
          <a:xfrm>
            <a:off x="8238744" y="3886200"/>
            <a:ext cx="402336" cy="402336"/>
          </a:xfrm>
          <a:prstGeom prst="ellipse">
            <a:avLst/>
          </a:prstGeom>
          <a:solidFill>
            <a:srgbClr val="56B4E9"/>
          </a:solidFill>
          <a:ln w="12700">
            <a:solidFill>
              <a:srgbClr val="56B4E9"/>
            </a:solidFill>
            <a:prstDash val="solid"/>
          </a:ln>
        </p:spPr>
      </p:sp>
      <p:sp>
        <p:nvSpPr>
          <p:cNvPr id="32" name="Text 30"/>
          <p:cNvSpPr txBox="1"/>
          <p:nvPr/>
        </p:nvSpPr>
        <p:spPr>
          <a:xfrm>
            <a:off x="8238744" y="3886200"/>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6</a:t>
            </a:r>
            <a:endParaRPr lang="en-US" sz="1800" dirty="0"/>
          </a:p>
        </p:txBody>
      </p:sp>
      <p:sp>
        <p:nvSpPr>
          <p:cNvPr id="33" name="Text 31"/>
          <p:cNvSpPr txBox="1"/>
          <p:nvPr/>
        </p:nvSpPr>
        <p:spPr>
          <a:xfrm>
            <a:off x="8759952" y="3840480"/>
            <a:ext cx="2862072" cy="502920"/>
          </a:xfrm>
          <a:prstGeom prst="rect">
            <a:avLst/>
          </a:prstGeom>
          <a:noFill/>
          <a:ln/>
        </p:spPr>
        <p:txBody>
          <a:bodyPr wrap="square" lIns="0" tIns="0" rIns="0" bIns="0" rtlCol="0" anchor="ctr"/>
          <a:lstStyle/>
          <a:p>
            <a:pPr indent="0" marL="0">
              <a:buNone/>
            </a:pPr>
            <a:r>
              <a:rPr lang="en-US" sz="1600" b="1" dirty="0">
                <a:solidFill>
                  <a:srgbClr val="56B4E9"/>
                </a:solidFill>
                <a:latin typeface="Calibri" pitchFamily="34" charset="0"/>
                <a:ea typeface="Calibri" pitchFamily="34" charset="-122"/>
                <a:cs typeface="Calibri" pitchFamily="34" charset="-120"/>
              </a:rPr>
              <a:t>Privacy and free-tier limits</a:t>
            </a:r>
            <a:endParaRPr lang="en-US" sz="1600" dirty="0"/>
          </a:p>
        </p:txBody>
      </p:sp>
      <p:sp>
        <p:nvSpPr>
          <p:cNvPr id="34" name="Text 32"/>
          <p:cNvSpPr txBox="1"/>
          <p:nvPr/>
        </p:nvSpPr>
        <p:spPr>
          <a:xfrm>
            <a:off x="8284464" y="4453128"/>
            <a:ext cx="3273552" cy="1490472"/>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Mitigation: </a:t>
            </a:r>
            <a:pPr indent="0" marL="0">
              <a:buNone/>
            </a:pPr>
            <a:r>
              <a:rPr lang="en-US" sz="1600" dirty="0">
                <a:solidFill>
                  <a:srgbClr val="DAD5FF"/>
                </a:solidFill>
                <a:latin typeface="Calibri" pitchFamily="34" charset="0"/>
                <a:ea typeface="Calibri" pitchFamily="34" charset="-122"/>
                <a:cs typeface="Calibri" pitchFamily="34" charset="-120"/>
              </a:rPr>
              <a:t>No PAN, account or portfolio data; inputs are bands and percentages, not stored. Saved verified answers, caching and fallbacks cover quota limits.</a:t>
            </a:r>
            <a:endParaRPr lang="en-US" sz="1600" dirty="0"/>
          </a:p>
        </p:txBody>
      </p:sp>
      <p:sp>
        <p:nvSpPr>
          <p:cNvPr id="35" name="Text 33"/>
          <p:cNvSpPr txBox="1"/>
          <p:nvPr/>
        </p:nvSpPr>
        <p:spPr>
          <a:xfrm>
            <a:off x="457200" y="6199632"/>
            <a:ext cx="11247120" cy="41148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Known limit today: the engine's strict judge still flags occasional over-generalised answers, so unverified answers are hidden, not shown.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glow-1"/>
          <p:cNvSpPr/>
          <p:nvPr/>
        </p:nvSpPr>
        <p:spPr>
          <a:xfrm>
            <a:off x="-1463040" y="-1645920"/>
            <a:ext cx="4206240" cy="4206240"/>
          </a:xfrm>
          <a:prstGeom prst="ellipse">
            <a:avLst/>
          </a:prstGeom>
          <a:solidFill>
            <a:srgbClr val="F08DC0">
              <a:alpha val="32000"/>
            </a:srgbClr>
          </a:solidFill>
          <a:ln w="12700">
            <a:solidFill>
              <a:srgbClr val="F08DC0">
                <a:alpha val="0"/>
              </a:srgbClr>
            </a:solidFill>
            <a:prstDash val="solid"/>
          </a:ln>
        </p:spPr>
      </p:sp>
      <p:sp>
        <p:nvSpPr>
          <p:cNvPr id="3" name="glow-2"/>
          <p:cNvSpPr/>
          <p:nvPr/>
        </p:nvSpPr>
        <p:spPr>
          <a:xfrm>
            <a:off x="10149840" y="5120640"/>
            <a:ext cx="3840480" cy="3840480"/>
          </a:xfrm>
          <a:prstGeom prst="ellipse">
            <a:avLst/>
          </a:prstGeom>
          <a:solidFill>
            <a:srgbClr val="56B4E9">
              <a:alpha val="30000"/>
            </a:srgbClr>
          </a:solidFill>
          <a:ln w="12700">
            <a:solidFill>
              <a:srgbClr val="56B4E9">
                <a:alpha val="0"/>
              </a:srgbClr>
            </a:solidFill>
            <a:prstDash val="solid"/>
          </a:ln>
        </p:spPr>
      </p:sp>
      <p:sp>
        <p:nvSpPr>
          <p:cNvPr id="4" name="Text 0"/>
          <p:cNvSpPr/>
          <p:nvPr>
            <p:ph idx="100" type="title" hasCustomPrompt="1"/>
          </p:nvPr>
        </p:nvSpPr>
        <p:spPr>
          <a:xfrm>
            <a:off x="457200" y="256032"/>
            <a:ext cx="11274552" cy="960120"/>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How the evidence was built: an AI discovery engine reads 11,711 real conversations and is tested against a golden set</a:t>
            </a:r>
            <a:endParaRPr lang="en-US" sz="2700" dirty="0"/>
          </a:p>
        </p:txBody>
      </p:sp>
      <p:sp>
        <p:nvSpPr>
          <p:cNvPr id="5" name="pipeline-1"/>
          <p:cNvSpPr/>
          <p:nvPr/>
        </p:nvSpPr>
        <p:spPr>
          <a:xfrm>
            <a:off x="457200" y="1371600"/>
            <a:ext cx="3639312" cy="1874520"/>
          </a:xfrm>
          <a:prstGeom prst="roundRect">
            <a:avLst>
              <a:gd name="adj" fmla="val 8780"/>
            </a:avLst>
          </a:prstGeom>
          <a:solidFill>
            <a:srgbClr val="251D70"/>
          </a:solidFill>
          <a:ln w="25400">
            <a:solidFill>
              <a:srgbClr val="56B4E9"/>
            </a:solidFill>
            <a:prstDash val="solid"/>
          </a:ln>
        </p:spPr>
      </p:sp>
      <p:sp>
        <p:nvSpPr>
          <p:cNvPr id="6" name="badge-1"/>
          <p:cNvSpPr/>
          <p:nvPr/>
        </p:nvSpPr>
        <p:spPr>
          <a:xfrm>
            <a:off x="594360" y="1490472"/>
            <a:ext cx="402336" cy="402336"/>
          </a:xfrm>
          <a:prstGeom prst="ellipse">
            <a:avLst/>
          </a:prstGeom>
          <a:solidFill>
            <a:srgbClr val="56B4E9"/>
          </a:solidFill>
          <a:ln w="12700">
            <a:solidFill>
              <a:srgbClr val="56B4E9"/>
            </a:solidFill>
            <a:prstDash val="solid"/>
          </a:ln>
        </p:spPr>
      </p:sp>
      <p:sp>
        <p:nvSpPr>
          <p:cNvPr id="7" name="Text 5"/>
          <p:cNvSpPr txBox="1"/>
          <p:nvPr/>
        </p:nvSpPr>
        <p:spPr>
          <a:xfrm>
            <a:off x="594360" y="149047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115568" y="1463040"/>
            <a:ext cx="2862072" cy="457200"/>
          </a:xfrm>
          <a:prstGeom prst="rect">
            <a:avLst/>
          </a:prstGeom>
          <a:noFill/>
          <a:ln/>
        </p:spPr>
        <p:txBody>
          <a:bodyPr wrap="square" lIns="0" tIns="0" rIns="0" bIns="0" rtlCol="0" anchor="ctr"/>
          <a:lstStyle/>
          <a:p>
            <a:pPr indent="0" marL="0">
              <a:buNone/>
            </a:pPr>
            <a:r>
              <a:rPr lang="en-US" sz="1600" b="1" dirty="0">
                <a:solidFill>
                  <a:srgbClr val="56B4E9"/>
                </a:solidFill>
                <a:latin typeface="Calibri" pitchFamily="34" charset="0"/>
                <a:ea typeface="Calibri" pitchFamily="34" charset="-122"/>
                <a:cs typeface="Calibri" pitchFamily="34" charset="-120"/>
              </a:rPr>
              <a:t>Collect</a:t>
            </a:r>
            <a:endParaRPr lang="en-US" sz="1600" dirty="0"/>
          </a:p>
        </p:txBody>
      </p:sp>
      <p:sp>
        <p:nvSpPr>
          <p:cNvPr id="9" name="Text 7"/>
          <p:cNvSpPr txBox="1"/>
          <p:nvPr/>
        </p:nvSpPr>
        <p:spPr>
          <a:xfrm>
            <a:off x="640080" y="2011680"/>
            <a:ext cx="3273552" cy="11430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40,000 Play Store reviews, 38.5K Reddit posts and 15.9K comments, 15.8K YouTube comments</a:t>
            </a:r>
            <a:endParaRPr lang="en-US" sz="1600" dirty="0"/>
          </a:p>
        </p:txBody>
      </p:sp>
      <p:sp>
        <p:nvSpPr>
          <p:cNvPr id="10" name="pipeline-2"/>
          <p:cNvSpPr/>
          <p:nvPr/>
        </p:nvSpPr>
        <p:spPr>
          <a:xfrm>
            <a:off x="4279392" y="1371600"/>
            <a:ext cx="3639312" cy="1874520"/>
          </a:xfrm>
          <a:prstGeom prst="roundRect">
            <a:avLst>
              <a:gd name="adj" fmla="val 8780"/>
            </a:avLst>
          </a:prstGeom>
          <a:solidFill>
            <a:srgbClr val="251D70"/>
          </a:solidFill>
          <a:ln w="25400">
            <a:solidFill>
              <a:srgbClr val="FFB000"/>
            </a:solidFill>
            <a:prstDash val="solid"/>
          </a:ln>
        </p:spPr>
      </p:sp>
      <p:sp>
        <p:nvSpPr>
          <p:cNvPr id="11" name="badge-2"/>
          <p:cNvSpPr/>
          <p:nvPr/>
        </p:nvSpPr>
        <p:spPr>
          <a:xfrm>
            <a:off x="4416552" y="1490472"/>
            <a:ext cx="402336" cy="402336"/>
          </a:xfrm>
          <a:prstGeom prst="ellipse">
            <a:avLst/>
          </a:prstGeom>
          <a:solidFill>
            <a:srgbClr val="FFB000"/>
          </a:solidFill>
          <a:ln w="12700">
            <a:solidFill>
              <a:srgbClr val="FFB000"/>
            </a:solidFill>
            <a:prstDash val="solid"/>
          </a:ln>
        </p:spPr>
      </p:sp>
      <p:sp>
        <p:nvSpPr>
          <p:cNvPr id="12" name="Text 10"/>
          <p:cNvSpPr txBox="1"/>
          <p:nvPr/>
        </p:nvSpPr>
        <p:spPr>
          <a:xfrm>
            <a:off x="4416552" y="149047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2</a:t>
            </a:r>
            <a:endParaRPr lang="en-US" sz="1800" dirty="0"/>
          </a:p>
        </p:txBody>
      </p:sp>
      <p:sp>
        <p:nvSpPr>
          <p:cNvPr id="13" name="Text 11"/>
          <p:cNvSpPr txBox="1"/>
          <p:nvPr/>
        </p:nvSpPr>
        <p:spPr>
          <a:xfrm>
            <a:off x="4937760" y="1463040"/>
            <a:ext cx="2862072" cy="457200"/>
          </a:xfrm>
          <a:prstGeom prst="rect">
            <a:avLst/>
          </a:prstGeom>
          <a:noFill/>
          <a:ln/>
        </p:spPr>
        <p:txBody>
          <a:bodyPr wrap="square" lIns="0" tIns="0" rIns="0" bIns="0" rtlCol="0" anchor="ctr"/>
          <a:lstStyle/>
          <a:p>
            <a:pPr indent="0" marL="0">
              <a:buNone/>
            </a:pPr>
            <a:r>
              <a:rPr lang="en-US" sz="1600" b="1" dirty="0">
                <a:solidFill>
                  <a:srgbClr val="FFB000"/>
                </a:solidFill>
                <a:latin typeface="Calibri" pitchFamily="34" charset="0"/>
                <a:ea typeface="Calibri" pitchFamily="34" charset="-122"/>
                <a:cs typeface="Calibri" pitchFamily="34" charset="-120"/>
              </a:rPr>
              <a:t>Filter and sample</a:t>
            </a:r>
            <a:endParaRPr lang="en-US" sz="1600" dirty="0"/>
          </a:p>
        </p:txBody>
      </p:sp>
      <p:sp>
        <p:nvSpPr>
          <p:cNvPr id="14" name="Text 12"/>
          <p:cNvSpPr txBox="1"/>
          <p:nvPr/>
        </p:nvSpPr>
        <p:spPr>
          <a:xfrm>
            <a:off x="4462272" y="2011680"/>
            <a:ext cx="3273552" cy="11430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Remove duplicates, keep SIP and mutual-fund talk, seeded sampling: 21,073 items</a:t>
            </a:r>
            <a:endParaRPr lang="en-US" sz="1600" dirty="0"/>
          </a:p>
        </p:txBody>
      </p:sp>
      <p:sp>
        <p:nvSpPr>
          <p:cNvPr id="15" name="pipeline-3"/>
          <p:cNvSpPr/>
          <p:nvPr/>
        </p:nvSpPr>
        <p:spPr>
          <a:xfrm>
            <a:off x="8101584" y="1371600"/>
            <a:ext cx="3639312" cy="1874520"/>
          </a:xfrm>
          <a:prstGeom prst="roundRect">
            <a:avLst>
              <a:gd name="adj" fmla="val 8780"/>
            </a:avLst>
          </a:prstGeom>
          <a:solidFill>
            <a:srgbClr val="251D70"/>
          </a:solidFill>
          <a:ln w="25400">
            <a:solidFill>
              <a:srgbClr val="F08DC0"/>
            </a:solidFill>
            <a:prstDash val="solid"/>
          </a:ln>
        </p:spPr>
      </p:sp>
      <p:sp>
        <p:nvSpPr>
          <p:cNvPr id="16" name="badge-3"/>
          <p:cNvSpPr/>
          <p:nvPr/>
        </p:nvSpPr>
        <p:spPr>
          <a:xfrm>
            <a:off x="8238744" y="1490472"/>
            <a:ext cx="402336" cy="402336"/>
          </a:xfrm>
          <a:prstGeom prst="ellipse">
            <a:avLst/>
          </a:prstGeom>
          <a:solidFill>
            <a:srgbClr val="F08DC0"/>
          </a:solidFill>
          <a:ln w="12700">
            <a:solidFill>
              <a:srgbClr val="F08DC0"/>
            </a:solidFill>
            <a:prstDash val="solid"/>
          </a:ln>
        </p:spPr>
      </p:sp>
      <p:sp>
        <p:nvSpPr>
          <p:cNvPr id="17" name="Text 15"/>
          <p:cNvSpPr txBox="1"/>
          <p:nvPr/>
        </p:nvSpPr>
        <p:spPr>
          <a:xfrm>
            <a:off x="8238744" y="149047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3</a:t>
            </a:r>
            <a:endParaRPr lang="en-US" sz="1800" dirty="0"/>
          </a:p>
        </p:txBody>
      </p:sp>
      <p:sp>
        <p:nvSpPr>
          <p:cNvPr id="18" name="Text 16"/>
          <p:cNvSpPr txBox="1"/>
          <p:nvPr/>
        </p:nvSpPr>
        <p:spPr>
          <a:xfrm>
            <a:off x="8759952" y="1463040"/>
            <a:ext cx="2862072" cy="457200"/>
          </a:xfrm>
          <a:prstGeom prst="rect">
            <a:avLst/>
          </a:prstGeom>
          <a:noFill/>
          <a:ln/>
        </p:spPr>
        <p:txBody>
          <a:bodyPr wrap="square" lIns="0" tIns="0" rIns="0" bIns="0" rtlCol="0" anchor="ctr"/>
          <a:lstStyle/>
          <a:p>
            <a:pPr indent="0" marL="0">
              <a:buNone/>
            </a:pPr>
            <a:r>
              <a:rPr lang="en-US" sz="1600" b="1" dirty="0">
                <a:solidFill>
                  <a:srgbClr val="F08DC0"/>
                </a:solidFill>
                <a:latin typeface="Calibri" pitchFamily="34" charset="0"/>
                <a:ea typeface="Calibri" pitchFamily="34" charset="-122"/>
                <a:cs typeface="Calibri" pitchFamily="34" charset="-120"/>
              </a:rPr>
              <a:t>AI extraction</a:t>
            </a:r>
            <a:endParaRPr lang="en-US" sz="1600" dirty="0"/>
          </a:p>
        </p:txBody>
      </p:sp>
      <p:sp>
        <p:nvSpPr>
          <p:cNvPr id="19" name="Text 17"/>
          <p:cNvSpPr txBox="1"/>
          <p:nvPr/>
        </p:nvSpPr>
        <p:spPr>
          <a:xfrm>
            <a:off x="8284464" y="2011680"/>
            <a:ext cx="3273552" cy="11430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Gemini codes each item: what happened, why, feeling, needs, why started, confusion, age. 11,711 analysed, 4,952 relevant</a:t>
            </a:r>
            <a:endParaRPr lang="en-US" sz="1600" dirty="0"/>
          </a:p>
        </p:txBody>
      </p:sp>
      <p:sp>
        <p:nvSpPr>
          <p:cNvPr id="20" name="pipeline-4"/>
          <p:cNvSpPr/>
          <p:nvPr/>
        </p:nvSpPr>
        <p:spPr>
          <a:xfrm>
            <a:off x="457200" y="3383280"/>
            <a:ext cx="3639312" cy="1874520"/>
          </a:xfrm>
          <a:prstGeom prst="roundRect">
            <a:avLst>
              <a:gd name="adj" fmla="val 8780"/>
            </a:avLst>
          </a:prstGeom>
          <a:solidFill>
            <a:srgbClr val="251D70"/>
          </a:solidFill>
          <a:ln w="25400">
            <a:solidFill>
              <a:srgbClr val="3DDBB0"/>
            </a:solidFill>
            <a:prstDash val="solid"/>
          </a:ln>
        </p:spPr>
      </p:sp>
      <p:sp>
        <p:nvSpPr>
          <p:cNvPr id="21" name="badge-4"/>
          <p:cNvSpPr/>
          <p:nvPr/>
        </p:nvSpPr>
        <p:spPr>
          <a:xfrm>
            <a:off x="594360" y="3502152"/>
            <a:ext cx="402336" cy="402336"/>
          </a:xfrm>
          <a:prstGeom prst="ellipse">
            <a:avLst/>
          </a:prstGeom>
          <a:solidFill>
            <a:srgbClr val="3DDBB0"/>
          </a:solidFill>
          <a:ln w="12700">
            <a:solidFill>
              <a:srgbClr val="3DDBB0"/>
            </a:solidFill>
            <a:prstDash val="solid"/>
          </a:ln>
        </p:spPr>
      </p:sp>
      <p:sp>
        <p:nvSpPr>
          <p:cNvPr id="22" name="Text 20"/>
          <p:cNvSpPr txBox="1"/>
          <p:nvPr/>
        </p:nvSpPr>
        <p:spPr>
          <a:xfrm>
            <a:off x="594360" y="350215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4</a:t>
            </a:r>
            <a:endParaRPr lang="en-US" sz="1800" dirty="0"/>
          </a:p>
        </p:txBody>
      </p:sp>
      <p:sp>
        <p:nvSpPr>
          <p:cNvPr id="23" name="Text 21"/>
          <p:cNvSpPr txBox="1"/>
          <p:nvPr/>
        </p:nvSpPr>
        <p:spPr>
          <a:xfrm>
            <a:off x="1115568" y="3474720"/>
            <a:ext cx="2862072" cy="457200"/>
          </a:xfrm>
          <a:prstGeom prst="rect">
            <a:avLst/>
          </a:prstGeom>
          <a:noFill/>
          <a:ln/>
        </p:spPr>
        <p:txBody>
          <a:bodyPr wrap="square" lIns="0" tIns="0" rIns="0" bIns="0" rtlCol="0" anchor="ctr"/>
          <a:lstStyle/>
          <a:p>
            <a:pPr indent="0" marL="0">
              <a:buNone/>
            </a:pPr>
            <a:r>
              <a:rPr lang="en-US" sz="1600" b="1" dirty="0">
                <a:solidFill>
                  <a:srgbClr val="3DDBB0"/>
                </a:solidFill>
                <a:latin typeface="Calibri" pitchFamily="34" charset="0"/>
                <a:ea typeface="Calibri" pitchFamily="34" charset="-122"/>
                <a:cs typeface="Calibri" pitchFamily="34" charset="-120"/>
              </a:rPr>
              <a:t>Check</a:t>
            </a:r>
            <a:endParaRPr lang="en-US" sz="1600" dirty="0"/>
          </a:p>
        </p:txBody>
      </p:sp>
      <p:sp>
        <p:nvSpPr>
          <p:cNvPr id="24" name="Text 22"/>
          <p:cNvSpPr txBox="1"/>
          <p:nvPr/>
        </p:nvSpPr>
        <p:spPr>
          <a:xfrm>
            <a:off x="640080" y="4023360"/>
            <a:ext cx="3273552" cy="11430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Quotes must appear word for word (98.5%). A stricter prompt removed 28% false 'relevant' items such as ULIP and PPF</a:t>
            </a:r>
            <a:endParaRPr lang="en-US" sz="1600" dirty="0"/>
          </a:p>
        </p:txBody>
      </p:sp>
      <p:sp>
        <p:nvSpPr>
          <p:cNvPr id="25" name="pipeline-5"/>
          <p:cNvSpPr/>
          <p:nvPr/>
        </p:nvSpPr>
        <p:spPr>
          <a:xfrm>
            <a:off x="4279392" y="3383280"/>
            <a:ext cx="3639312" cy="1874520"/>
          </a:xfrm>
          <a:prstGeom prst="roundRect">
            <a:avLst>
              <a:gd name="adj" fmla="val 8780"/>
            </a:avLst>
          </a:prstGeom>
          <a:solidFill>
            <a:srgbClr val="251D70"/>
          </a:solidFill>
          <a:ln w="25400">
            <a:solidFill>
              <a:srgbClr val="F0E442"/>
            </a:solidFill>
            <a:prstDash val="solid"/>
          </a:ln>
        </p:spPr>
      </p:sp>
      <p:sp>
        <p:nvSpPr>
          <p:cNvPr id="26" name="badge-5"/>
          <p:cNvSpPr/>
          <p:nvPr/>
        </p:nvSpPr>
        <p:spPr>
          <a:xfrm>
            <a:off x="4416552" y="3502152"/>
            <a:ext cx="402336" cy="402336"/>
          </a:xfrm>
          <a:prstGeom prst="ellipse">
            <a:avLst/>
          </a:prstGeom>
          <a:solidFill>
            <a:srgbClr val="F0E442"/>
          </a:solidFill>
          <a:ln w="12700">
            <a:solidFill>
              <a:srgbClr val="F0E442"/>
            </a:solidFill>
            <a:prstDash val="solid"/>
          </a:ln>
        </p:spPr>
      </p:sp>
      <p:sp>
        <p:nvSpPr>
          <p:cNvPr id="27" name="Text 25"/>
          <p:cNvSpPr txBox="1"/>
          <p:nvPr/>
        </p:nvSpPr>
        <p:spPr>
          <a:xfrm>
            <a:off x="4416552" y="350215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5</a:t>
            </a:r>
            <a:endParaRPr lang="en-US" sz="1800" dirty="0"/>
          </a:p>
        </p:txBody>
      </p:sp>
      <p:sp>
        <p:nvSpPr>
          <p:cNvPr id="28" name="Text 26"/>
          <p:cNvSpPr txBox="1"/>
          <p:nvPr/>
        </p:nvSpPr>
        <p:spPr>
          <a:xfrm>
            <a:off x="4937760" y="3474720"/>
            <a:ext cx="2862072" cy="457200"/>
          </a:xfrm>
          <a:prstGeom prst="rect">
            <a:avLst/>
          </a:prstGeom>
          <a:noFill/>
          <a:ln/>
        </p:spPr>
        <p:txBody>
          <a:bodyPr wrap="square" lIns="0" tIns="0" rIns="0" bIns="0" rtlCol="0" anchor="ctr"/>
          <a:lstStyle/>
          <a:p>
            <a:pPr indent="0" marL="0">
              <a:buNone/>
            </a:pPr>
            <a:r>
              <a:rPr lang="en-US" sz="1600" b="1" dirty="0">
                <a:solidFill>
                  <a:srgbClr val="F0E442"/>
                </a:solidFill>
                <a:latin typeface="Calibri" pitchFamily="34" charset="0"/>
                <a:ea typeface="Calibri" pitchFamily="34" charset="-122"/>
                <a:cs typeface="Calibri" pitchFamily="34" charset="-120"/>
              </a:rPr>
              <a:t>Answer (RAG)</a:t>
            </a:r>
            <a:endParaRPr lang="en-US" sz="1600" dirty="0"/>
          </a:p>
        </p:txBody>
      </p:sp>
      <p:sp>
        <p:nvSpPr>
          <p:cNvPr id="29" name="Text 27"/>
          <p:cNvSpPr txBox="1"/>
          <p:nvPr/>
        </p:nvSpPr>
        <p:spPr>
          <a:xfrm>
            <a:off x="4462272" y="4023360"/>
            <a:ext cx="3273552" cy="11430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Question, search terms, keyword and meaning search, AI re-rank, 2 to 3 sentence answer, four self-checks</a:t>
            </a:r>
            <a:endParaRPr lang="en-US" sz="1600" dirty="0"/>
          </a:p>
        </p:txBody>
      </p:sp>
      <p:sp>
        <p:nvSpPr>
          <p:cNvPr id="30" name="pipeline-6"/>
          <p:cNvSpPr/>
          <p:nvPr/>
        </p:nvSpPr>
        <p:spPr>
          <a:xfrm>
            <a:off x="8101584" y="3383280"/>
            <a:ext cx="3639312" cy="1874520"/>
          </a:xfrm>
          <a:prstGeom prst="roundRect">
            <a:avLst>
              <a:gd name="adj" fmla="val 8780"/>
            </a:avLst>
          </a:prstGeom>
          <a:solidFill>
            <a:srgbClr val="251D70"/>
          </a:solidFill>
          <a:ln w="25400">
            <a:solidFill>
              <a:srgbClr val="56B4E9"/>
            </a:solidFill>
            <a:prstDash val="solid"/>
          </a:ln>
        </p:spPr>
      </p:sp>
      <p:sp>
        <p:nvSpPr>
          <p:cNvPr id="31" name="badge-6"/>
          <p:cNvSpPr/>
          <p:nvPr/>
        </p:nvSpPr>
        <p:spPr>
          <a:xfrm>
            <a:off x="8238744" y="3502152"/>
            <a:ext cx="402336" cy="402336"/>
          </a:xfrm>
          <a:prstGeom prst="ellipse">
            <a:avLst/>
          </a:prstGeom>
          <a:solidFill>
            <a:srgbClr val="56B4E9"/>
          </a:solidFill>
          <a:ln w="12700">
            <a:solidFill>
              <a:srgbClr val="56B4E9"/>
            </a:solidFill>
            <a:prstDash val="solid"/>
          </a:ln>
        </p:spPr>
      </p:sp>
      <p:sp>
        <p:nvSpPr>
          <p:cNvPr id="32" name="Text 30"/>
          <p:cNvSpPr txBox="1"/>
          <p:nvPr/>
        </p:nvSpPr>
        <p:spPr>
          <a:xfrm>
            <a:off x="8238744" y="3502152"/>
            <a:ext cx="402336" cy="402336"/>
          </a:xfrm>
          <a:prstGeom prst="rect">
            <a:avLst/>
          </a:prstGeom>
          <a:noFill/>
          <a:ln/>
        </p:spPr>
        <p:txBody>
          <a:bodyPr wrap="square" lIns="0" tIns="0" rIns="0" bIns="0" rtlCol="0" anchor="ctr"/>
          <a:lstStyle/>
          <a:p>
            <a:pPr algn="ctr" indent="0" marL="0">
              <a:buNone/>
            </a:pPr>
            <a:r>
              <a:rPr lang="en-US" sz="1800" b="1" dirty="0">
                <a:solidFill>
                  <a:srgbClr val="140F3D"/>
                </a:solidFill>
                <a:latin typeface="Arial" pitchFamily="34" charset="0"/>
                <a:ea typeface="Arial" pitchFamily="34" charset="-122"/>
                <a:cs typeface="Arial" pitchFamily="34" charset="-120"/>
              </a:rPr>
              <a:t>6</a:t>
            </a:r>
            <a:endParaRPr lang="en-US" sz="1800" dirty="0"/>
          </a:p>
        </p:txBody>
      </p:sp>
      <p:sp>
        <p:nvSpPr>
          <p:cNvPr id="33" name="Text 31"/>
          <p:cNvSpPr txBox="1"/>
          <p:nvPr/>
        </p:nvSpPr>
        <p:spPr>
          <a:xfrm>
            <a:off x="8759952" y="3474720"/>
            <a:ext cx="2862072" cy="457200"/>
          </a:xfrm>
          <a:prstGeom prst="rect">
            <a:avLst/>
          </a:prstGeom>
          <a:noFill/>
          <a:ln/>
        </p:spPr>
        <p:txBody>
          <a:bodyPr wrap="square" lIns="0" tIns="0" rIns="0" bIns="0" rtlCol="0" anchor="ctr"/>
          <a:lstStyle/>
          <a:p>
            <a:pPr indent="0" marL="0">
              <a:buNone/>
            </a:pPr>
            <a:r>
              <a:rPr lang="en-US" sz="1600" b="1" dirty="0">
                <a:solidFill>
                  <a:srgbClr val="56B4E9"/>
                </a:solidFill>
                <a:latin typeface="Calibri" pitchFamily="34" charset="0"/>
                <a:ea typeface="Calibri" pitchFamily="34" charset="-122"/>
                <a:cs typeface="Calibri" pitchFamily="34" charset="-120"/>
              </a:rPr>
              <a:t>Evaluate</a:t>
            </a:r>
            <a:endParaRPr lang="en-US" sz="1600" dirty="0"/>
          </a:p>
        </p:txBody>
      </p:sp>
      <p:sp>
        <p:nvSpPr>
          <p:cNvPr id="34" name="Text 32"/>
          <p:cNvSpPr txBox="1"/>
          <p:nvPr/>
        </p:nvSpPr>
        <p:spPr>
          <a:xfrm>
            <a:off x="8284464" y="4023360"/>
            <a:ext cx="3273552" cy="11430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19/19 tricky questions handled; precision@5 43 to 78%; 11/12 answers grounded; hand-labelled golden set to score extraction</a:t>
            </a:r>
            <a:endParaRPr lang="en-US" sz="1600" dirty="0"/>
          </a:p>
        </p:txBody>
      </p:sp>
      <p:sp>
        <p:nvSpPr>
          <p:cNvPr id="35" name="next-steps"/>
          <p:cNvSpPr/>
          <p:nvPr/>
        </p:nvSpPr>
        <p:spPr>
          <a:xfrm>
            <a:off x="457200" y="5468112"/>
            <a:ext cx="11274552" cy="658368"/>
          </a:xfrm>
          <a:prstGeom prst="roundRect">
            <a:avLst>
              <a:gd name="adj" fmla="val 25000"/>
            </a:avLst>
          </a:prstGeom>
          <a:solidFill>
            <a:srgbClr val="33288F"/>
          </a:solidFill>
          <a:ln w="25400">
            <a:solidFill>
              <a:srgbClr val="F0E442"/>
            </a:solidFill>
            <a:prstDash val="solid"/>
          </a:ln>
        </p:spPr>
      </p:sp>
      <p:sp>
        <p:nvSpPr>
          <p:cNvPr id="36" name="Text 34"/>
          <p:cNvSpPr txBox="1"/>
          <p:nvPr/>
        </p:nvSpPr>
        <p:spPr>
          <a:xfrm>
            <a:off x="640080" y="5468112"/>
            <a:ext cx="10881360" cy="658368"/>
          </a:xfrm>
          <a:prstGeom prst="rect">
            <a:avLst/>
          </a:prstGeom>
          <a:noFill/>
          <a:ln/>
        </p:spPr>
        <p:txBody>
          <a:bodyPr wrap="square" lIns="0" tIns="0" rIns="0" bIns="0" rtlCol="0" anchor="ctr"/>
          <a:lstStyle/>
          <a:p>
            <a:pPr indent="0" marL="0">
              <a:buNone/>
            </a:pPr>
            <a:r>
              <a:rPr lang="en-US" sz="1600" b="1" dirty="0">
                <a:solidFill>
                  <a:srgbClr val="F0E442"/>
                </a:solidFill>
                <a:latin typeface="Calibri" pitchFamily="34" charset="0"/>
                <a:ea typeface="Calibri" pitchFamily="34" charset="-122"/>
                <a:cs typeface="Calibri" pitchFamily="34" charset="-120"/>
              </a:rPr>
              <a:t>Next: </a:t>
            </a:r>
            <a:pPr indent="0" marL="0">
              <a:buNone/>
            </a:pPr>
            <a:r>
              <a:rPr lang="en-US" sz="1600" dirty="0">
                <a:solidFill>
                  <a:srgbClr val="FFFFFF"/>
                </a:solidFill>
                <a:latin typeface="Calibri" pitchFamily="34" charset="0"/>
                <a:ea typeface="Calibri" pitchFamily="34" charset="-122"/>
                <a:cs typeface="Calibri" pitchFamily="34" charset="-120"/>
              </a:rPr>
              <a:t>5 to 6 interviews with early-career salaried first-time investors to confirm or kill the three hypotheses, then build and test the MVP. </a:t>
            </a:r>
            <a:pPr indent="0" marL="0">
              <a:buNone/>
            </a:pPr>
            <a:r>
              <a:rPr lang="en-US" sz="1600" b="1" u="sng" dirty="0">
                <a:solidFill>
                  <a:srgbClr val="F0E442"/>
                </a:solidFill>
                <a:uFill>
                  <a:solidFill>
                    <a:srgbClr val="F0E442"/>
                  </a:solidFill>
                </a:uFill>
                <a:latin typeface="Calibri" pitchFamily="34" charset="0"/>
                <a:ea typeface="Calibri" pitchFamily="34" charset="-122"/>
                <a:cs typeface="Calibri" pitchFamily="34" charset="-120"/>
                <a:hlinkClick r:id="rId1" invalidUrl="" action="" tgtFrame="" tooltip="https://nextleapgradprojectgrowwsipresearch.vercel.app/" history="1" highlightClick="0" endSnd="0">
                  <a:extLst>
                    <a:ext uri="{A12FA001-AC4F-418D-AE19-62706E023703}">
                      <ahyp:hlinkClr xmlns:ahyp="http://schemas.microsoft.com/office/drawing/2018/hyperlinkcolor" val="tx"/>
                    </a:ext>
                  </a:extLst>
                </a:hlinkClick>
              </a:rPr>
              <a:t>Try the live engine</a:t>
            </a:r>
            <a:endParaRPr lang="en-US" sz="1600" dirty="0"/>
          </a:p>
        </p:txBody>
      </p:sp>
      <p:sp>
        <p:nvSpPr>
          <p:cNvPr id="37" name="Text 35"/>
          <p:cNvSpPr txBox="1"/>
          <p:nvPr/>
        </p:nvSpPr>
        <p:spPr>
          <a:xfrm>
            <a:off x="457200" y="6236208"/>
            <a:ext cx="11247120" cy="411480"/>
          </a:xfrm>
          <a:prstGeom prst="rect">
            <a:avLst/>
          </a:prstGeom>
          <a:noFill/>
          <a:ln/>
        </p:spPr>
        <p:txBody>
          <a:bodyPr wrap="square" lIns="0" tIns="0" rIns="0" bIns="0" rtlCol="0" anchor="t"/>
          <a:lstStyle/>
          <a:p>
            <a:pPr indent="0" marL="0">
              <a:buNone/>
            </a:pPr>
            <a:r>
              <a:rPr lang="en-US" sz="1400" dirty="0">
                <a:solidFill>
                  <a:srgbClr val="DAD5FF"/>
                </a:solidFill>
                <a:latin typeface="Calibri" pitchFamily="34" charset="0"/>
                <a:ea typeface="Calibri" pitchFamily="34" charset="-122"/>
                <a:cs typeface="Calibri" pitchFamily="34" charset="-120"/>
              </a:rPr>
              <a:t>Free-tier stack: Gemini models, Vercel hosting. Data: public reviews, posts and comments shown as short excerpts without usernames.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First-time SIP retention on Groww: problem framing, MVP and success metrics</dc:title>
  <dc:subject>PptxGenJS Presentation</dc:subject>
  <dc:creator/>
  <cp:lastModifiedBy/>
  <cp:revision>1</cp:revision>
  <dcterms:created xsi:type="dcterms:W3CDTF">2026-10-31T10:40:35Z</dcterms:created>
  <dcterms:modified xsi:type="dcterms:W3CDTF">2026-10-31T10:40:35Z</dcterms:modified>
</cp:coreProperties>
</file>